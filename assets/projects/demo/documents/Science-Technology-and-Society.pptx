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8" r:id="rId3"/>
    <p:sldId id="259" r:id="rId4"/>
    <p:sldId id="260" r:id="rId5"/>
    <p:sldId id="261" r:id="rId6"/>
    <p:sldId id="263" r:id="rId7"/>
    <p:sldId id="262"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45" d="100"/>
          <a:sy n="45" d="100"/>
        </p:scale>
        <p:origin x="-1236"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516624"/>
            <a:ext cx="7315200" cy="2595025"/>
          </a:xfrm>
        </p:spPr>
        <p:txBody>
          <a:bodyPr>
            <a:normAutofit/>
          </a:bodyPr>
          <a:lstStyle>
            <a:lvl1pPr>
              <a:defRPr sz="4800"/>
            </a:lvl1pPr>
          </a:lstStyle>
          <a:p>
            <a:r>
              <a:rPr lang="en-US" smtClean="0"/>
              <a:t>Click to edit Master title style</a:t>
            </a:r>
            <a:endParaRPr lang="en-US"/>
          </a:p>
        </p:txBody>
      </p:sp>
      <p:sp>
        <p:nvSpPr>
          <p:cNvPr id="3" name="Subtitle 2"/>
          <p:cNvSpPr>
            <a:spLocks noGrp="1"/>
          </p:cNvSpPr>
          <p:nvPr>
            <p:ph type="subTitle" idx="1"/>
          </p:nvPr>
        </p:nvSpPr>
        <p:spPr>
          <a:xfrm>
            <a:off x="914400" y="5166530"/>
            <a:ext cx="7315200" cy="1144632"/>
          </a:xfrm>
        </p:spPr>
        <p:txBody>
          <a:bodyPr>
            <a:normAutofit/>
          </a:bodyPr>
          <a:lstStyle>
            <a:lvl1pPr marL="0" indent="0" algn="l">
              <a:buNone/>
              <a:defRPr sz="2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A311C08C-0533-4759-AB10-17BE3ECE6E24}" type="datetimeFigureOut">
              <a:rPr lang="en-US" smtClean="0"/>
              <a:t>1/19/2018</a:t>
            </a:fld>
            <a:endParaRPr lang="en-US"/>
          </a:p>
        </p:txBody>
      </p:sp>
      <p:sp>
        <p:nvSpPr>
          <p:cNvPr id="8" name="Slide Number Placeholder 7"/>
          <p:cNvSpPr>
            <a:spLocks noGrp="1"/>
          </p:cNvSpPr>
          <p:nvPr>
            <p:ph type="sldNum" sz="quarter" idx="11"/>
          </p:nvPr>
        </p:nvSpPr>
        <p:spPr/>
        <p:txBody>
          <a:bodyPr/>
          <a:lstStyle/>
          <a:p>
            <a:fld id="{53BB28CA-8AE0-4A11-AC24-C9B36C5679B8}"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311C08C-0533-4759-AB10-17BE3ECE6E24}" type="datetimeFigureOut">
              <a:rPr lang="en-US" smtClean="0"/>
              <a:t>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BB28CA-8AE0-4A11-AC24-C9B36C5679B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400" y="5017572"/>
            <a:ext cx="7315200" cy="1293592"/>
          </a:xfrm>
        </p:spPr>
        <p:txBody>
          <a:bodyPr anchor="t"/>
          <a:lstStyle>
            <a:lvl1pPr algn="l">
              <a:defRPr sz="4000" b="0" cap="none"/>
            </a:lvl1pPr>
          </a:lstStyle>
          <a:p>
            <a:r>
              <a:rPr lang="en-US" smtClean="0"/>
              <a:t>Click to edit Master title style</a:t>
            </a:r>
            <a:endParaRPr lang="en-US"/>
          </a:p>
        </p:txBody>
      </p:sp>
      <p:sp>
        <p:nvSpPr>
          <p:cNvPr id="3" name="Text Placeholder 2"/>
          <p:cNvSpPr>
            <a:spLocks noGrp="1"/>
          </p:cNvSpPr>
          <p:nvPr>
            <p:ph type="body" idx="1"/>
          </p:nvPr>
        </p:nvSpPr>
        <p:spPr>
          <a:xfrm>
            <a:off x="914400" y="3865097"/>
            <a:ext cx="7315200" cy="1098439"/>
          </a:xfr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311C08C-0533-4759-AB10-17BE3ECE6E24}" type="datetimeFigureOut">
              <a:rPr lang="en-US" smtClean="0"/>
              <a:t>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BB28CA-8AE0-4A11-AC24-C9B36C5679B8}"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311C08C-0533-4759-AB10-17BE3ECE6E24}" type="datetimeFigureOut">
              <a:rPr lang="en-US" smtClean="0"/>
              <a:t>1/19/2018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BB28CA-8AE0-4A11-AC24-C9B36C5679B8}" type="slidenum">
              <a:rPr lang="en-US" smtClean="0"/>
              <a:t>‹#›</a:t>
            </a:fld>
            <a:endParaRPr lang="en-US"/>
          </a:p>
        </p:txBody>
      </p:sp>
      <p:sp>
        <p:nvSpPr>
          <p:cNvPr id="9" name="Title 8"/>
          <p:cNvSpPr>
            <a:spLocks noGrp="1"/>
          </p:cNvSpPr>
          <p:nvPr>
            <p:ph type="title"/>
          </p:nvPr>
        </p:nvSpPr>
        <p:spPr>
          <a:xfrm>
            <a:off x="914400" y="1544715"/>
            <a:ext cx="7315200" cy="1154097"/>
          </a:xfrm>
        </p:spPr>
        <p:txBody>
          <a:bodyPr/>
          <a:lstStyle/>
          <a:p>
            <a:r>
              <a:rPr lang="en-US" smtClean="0"/>
              <a:t>Click to edit Master title style</a:t>
            </a:r>
            <a:endParaRPr lang="en-US"/>
          </a:p>
        </p:txBody>
      </p:sp>
      <p:sp>
        <p:nvSpPr>
          <p:cNvPr id="8" name="Content Placeholder 7"/>
          <p:cNvSpPr>
            <a:spLocks noGrp="1"/>
          </p:cNvSpPr>
          <p:nvPr>
            <p:ph sz="quarter" idx="13"/>
          </p:nvPr>
        </p:nvSpPr>
        <p:spPr>
          <a:xfrm>
            <a:off x="914400" y="2743200"/>
            <a:ext cx="3566160" cy="359359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81728" y="2743200"/>
            <a:ext cx="3566160" cy="35956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16348" y="2743200"/>
            <a:ext cx="3364992" cy="621792"/>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885144" y="2743200"/>
            <a:ext cx="3362062" cy="621792"/>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A311C08C-0533-4759-AB10-17BE3ECE6E24}" type="datetimeFigureOut">
              <a:rPr lang="en-US" smtClean="0"/>
              <a:t>1/19/2018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3BB28CA-8AE0-4A11-AC24-C9B36C5679B8}" type="slidenum">
              <a:rPr lang="en-US" smtClean="0"/>
              <a:t>‹#›</a:t>
            </a:fld>
            <a:endParaRPr lang="en-US"/>
          </a:p>
        </p:txBody>
      </p:sp>
      <p:sp>
        <p:nvSpPr>
          <p:cNvPr id="10" name="Title 9"/>
          <p:cNvSpPr>
            <a:spLocks noGrp="1"/>
          </p:cNvSpPr>
          <p:nvPr>
            <p:ph type="title"/>
          </p:nvPr>
        </p:nvSpPr>
        <p:spPr>
          <a:xfrm>
            <a:off x="914400" y="1544715"/>
            <a:ext cx="7315200" cy="1154097"/>
          </a:xfrm>
        </p:spPr>
        <p:txBody>
          <a:bodyPr/>
          <a:lstStyle/>
          <a:p>
            <a:r>
              <a:rPr lang="en-US" smtClean="0"/>
              <a:t>Click to edit Master title style</a:t>
            </a:r>
            <a:endParaRPr lang="en-US" dirty="0"/>
          </a:p>
        </p:txBody>
      </p:sp>
      <p:sp>
        <p:nvSpPr>
          <p:cNvPr id="11" name="Content Placeholder 10"/>
          <p:cNvSpPr>
            <a:spLocks noGrp="1"/>
          </p:cNvSpPr>
          <p:nvPr>
            <p:ph sz="quarter" idx="13"/>
          </p:nvPr>
        </p:nvSpPr>
        <p:spPr>
          <a:xfrm>
            <a:off x="914400" y="3383280"/>
            <a:ext cx="3566160" cy="29535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81727" y="3383280"/>
            <a:ext cx="3566160" cy="29535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311C08C-0533-4759-AB10-17BE3ECE6E24}" type="datetimeFigureOut">
              <a:rPr lang="en-US" smtClean="0"/>
              <a:t>1/19/2018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3BB28CA-8AE0-4A11-AC24-C9B36C5679B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11C08C-0533-4759-AB10-17BE3ECE6E24}" type="datetimeFigureOut">
              <a:rPr lang="en-US" smtClean="0"/>
              <a:t>1/19/2018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3BB28CA-8AE0-4A11-AC24-C9B36C5679B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5362"/>
            <a:ext cx="2950936" cy="2173015"/>
          </a:xfrm>
        </p:spPr>
        <p:txBody>
          <a:bodyPr anchor="b">
            <a:normAutofit/>
          </a:bodyPr>
          <a:lstStyle>
            <a:lvl1pPr algn="l">
              <a:defRPr sz="2800" b="0"/>
            </a:lvl1pPr>
          </a:lstStyle>
          <a:p>
            <a:r>
              <a:rPr lang="en-US" smtClean="0"/>
              <a:t>Click to edit Master title style</a:t>
            </a:r>
            <a:endParaRPr lang="en-US" dirty="0"/>
          </a:p>
        </p:txBody>
      </p:sp>
      <p:sp>
        <p:nvSpPr>
          <p:cNvPr id="3" name="Content Placeholder 2"/>
          <p:cNvSpPr>
            <a:spLocks noGrp="1"/>
          </p:cNvSpPr>
          <p:nvPr>
            <p:ph idx="1"/>
          </p:nvPr>
        </p:nvSpPr>
        <p:spPr>
          <a:xfrm>
            <a:off x="4021752" y="1826709"/>
            <a:ext cx="4207848" cy="4476614"/>
          </a:xfrm>
        </p:spPr>
        <p:txBody>
          <a:bodyPr anchor="ct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4400" y="4061095"/>
            <a:ext cx="2950936" cy="2245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311C08C-0533-4759-AB10-17BE3ECE6E24}" type="datetimeFigureOut">
              <a:rPr lang="en-US" smtClean="0"/>
              <a:t>1/19/2018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BB28CA-8AE0-4A11-AC24-C9B36C5679B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8800"/>
            <a:ext cx="2953512" cy="2176272"/>
          </a:xfrm>
        </p:spPr>
        <p:txBody>
          <a:bodyPr anchor="b">
            <a:normAutofit/>
          </a:bodyPr>
          <a:lstStyle>
            <a:lvl1pPr algn="l">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4191000" y="2286000"/>
            <a:ext cx="4038600" cy="3352800"/>
          </a:xfrm>
          <a:solidFill>
            <a:schemeClr val="accent2"/>
          </a:solidFill>
          <a:ln w="12700">
            <a:noFill/>
          </a:ln>
          <a:effectLst>
            <a:reflection blurRad="12700" stA="30000" endPos="30000" dist="31750" dir="5400000" sy="-100000" algn="bl" rotWithShape="0"/>
          </a:effectLst>
          <a:scene3d>
            <a:camera prst="perspectiveRight" fov="2700000">
              <a:rot lat="240000" lon="900000" rev="0"/>
            </a:camera>
            <a:lightRig rig="threePt" dir="t">
              <a:rot lat="0" lon="0" rev="2700000"/>
            </a:lightRig>
          </a:scene3d>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4400" y="4059936"/>
            <a:ext cx="2953512" cy="224942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311C08C-0533-4759-AB10-17BE3ECE6E24}" type="datetimeFigureOut">
              <a:rPr lang="en-US" smtClean="0"/>
              <a:t>1/19/2018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BB28CA-8AE0-4A11-AC24-C9B36C5679B8}"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311C08C-0533-4759-AB10-17BE3ECE6E24}" type="datetimeFigureOut">
              <a:rPr lang="en-US" smtClean="0"/>
              <a:t>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BB28CA-8AE0-4A11-AC24-C9B36C5679B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48400" y="1826709"/>
            <a:ext cx="1492499" cy="448445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54524" y="1826709"/>
            <a:ext cx="5241476" cy="448445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311C08C-0533-4759-AB10-17BE3ECE6E24}" type="datetimeFigureOut">
              <a:rPr lang="en-US" smtClean="0"/>
              <a:t>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BB28CA-8AE0-4A11-AC24-C9B36C5679B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10" name="Rectangle 9"/>
          <p:cNvSpPr/>
          <p:nvPr/>
        </p:nvSpPr>
        <p:spPr>
          <a:xfrm>
            <a:off x="8435268" y="573807"/>
            <a:ext cx="86236"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569419" y="573807"/>
            <a:ext cx="576072"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914400" y="1544715"/>
            <a:ext cx="7315200" cy="115409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4400" y="2769833"/>
            <a:ext cx="7315200" cy="353952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007690" y="548797"/>
            <a:ext cx="1189132" cy="297918"/>
          </a:xfrm>
          <a:prstGeom prst="rect">
            <a:avLst/>
          </a:prstGeom>
        </p:spPr>
        <p:txBody>
          <a:bodyPr vert="horz" lIns="91440" tIns="45720" rIns="91440" bIns="45720" rtlCol="0" anchor="ctr"/>
          <a:lstStyle>
            <a:lvl1pPr algn="l">
              <a:defRPr sz="1200">
                <a:solidFill>
                  <a:schemeClr val="tx1">
                    <a:alpha val="50000"/>
                  </a:schemeClr>
                </a:solidFill>
              </a:defRPr>
            </a:lvl1pPr>
          </a:lstStyle>
          <a:p>
            <a:fld id="{A311C08C-0533-4759-AB10-17BE3ECE6E24}" type="datetimeFigureOut">
              <a:rPr lang="en-US" smtClean="0"/>
              <a:t>1/19/2018</a:t>
            </a:fld>
            <a:endParaRPr lang="en-US"/>
          </a:p>
        </p:txBody>
      </p:sp>
      <p:sp>
        <p:nvSpPr>
          <p:cNvPr id="6" name="Slide Number Placeholder 5"/>
          <p:cNvSpPr>
            <a:spLocks noGrp="1"/>
          </p:cNvSpPr>
          <p:nvPr>
            <p:ph type="sldNum" sz="quarter" idx="4"/>
          </p:nvPr>
        </p:nvSpPr>
        <p:spPr>
          <a:xfrm>
            <a:off x="7314415" y="548797"/>
            <a:ext cx="941203" cy="301752"/>
          </a:xfrm>
          <a:prstGeom prst="rect">
            <a:avLst/>
          </a:prstGeom>
        </p:spPr>
        <p:txBody>
          <a:bodyPr vert="horz" lIns="91440" tIns="45720" rIns="91440" bIns="45720" rtlCol="0" anchor="ctr"/>
          <a:lstStyle>
            <a:lvl1pPr algn="r">
              <a:defRPr sz="1200">
                <a:solidFill>
                  <a:schemeClr val="tx1"/>
                </a:solidFill>
              </a:defRPr>
            </a:lvl1pPr>
          </a:lstStyle>
          <a:p>
            <a:fld id="{53BB28CA-8AE0-4A11-AC24-C9B36C5679B8}" type="slidenum">
              <a:rPr lang="en-US" smtClean="0"/>
              <a:t>‹#›</a:t>
            </a:fld>
            <a:endParaRPr lang="en-US"/>
          </a:p>
        </p:txBody>
      </p:sp>
      <p:sp>
        <p:nvSpPr>
          <p:cNvPr id="5" name="Footer Placeholder 4"/>
          <p:cNvSpPr>
            <a:spLocks noGrp="1"/>
          </p:cNvSpPr>
          <p:nvPr>
            <p:ph type="ftr" sz="quarter" idx="3"/>
          </p:nvPr>
        </p:nvSpPr>
        <p:spPr>
          <a:xfrm>
            <a:off x="6008688" y="855956"/>
            <a:ext cx="2246489" cy="301227"/>
          </a:xfrm>
          <a:prstGeom prst="rect">
            <a:avLst/>
          </a:prstGeom>
        </p:spPr>
        <p:txBody>
          <a:bodyPr vert="horz" lIns="91440" tIns="0" rIns="91440" bIns="45720" rtlCol="0" anchor="t"/>
          <a:lstStyle>
            <a:lvl1pPr algn="l">
              <a:defRPr sz="1000">
                <a:solidFill>
                  <a:schemeClr val="tx1"/>
                </a:solidFill>
              </a:defRPr>
            </a:lvl1pPr>
          </a:lstStyle>
          <a:p>
            <a:endParaRPr lang="en-US"/>
          </a:p>
        </p:txBody>
      </p:sp>
    </p:spTree>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spcBef>
          <a:spcPct val="0"/>
        </a:spcBef>
        <a:buNone/>
        <a:defRPr sz="4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Science, Technology and Society</a:t>
            </a:r>
            <a:endParaRPr lang="en-US" dirty="0"/>
          </a:p>
        </p:txBody>
      </p:sp>
      <p:sp>
        <p:nvSpPr>
          <p:cNvPr id="3" name="Subtitle 2"/>
          <p:cNvSpPr>
            <a:spLocks noGrp="1"/>
          </p:cNvSpPr>
          <p:nvPr>
            <p:ph type="subTitle" idx="1"/>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8"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057400" y="3880884"/>
            <a:ext cx="3886200" cy="6149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b="1" dirty="0" smtClean="0"/>
              <a:t>INTRODUCTION</a:t>
            </a:r>
            <a:endParaRPr lang="en-US" sz="2400" b="1" dirty="0"/>
          </a:p>
        </p:txBody>
      </p:sp>
    </p:spTree>
    <p:extLst>
      <p:ext uri="{BB962C8B-B14F-4D97-AF65-F5344CB8AC3E}">
        <p14:creationId xmlns:p14="http://schemas.microsoft.com/office/powerpoint/2010/main" val="28995108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229600" cy="1154097"/>
          </a:xfrm>
        </p:spPr>
        <p:txBody>
          <a:bodyPr>
            <a:normAutofit fontScale="90000"/>
          </a:bodyPr>
          <a:lstStyle/>
          <a:p>
            <a:r>
              <a:rPr lang="en-US" b="1" dirty="0" smtClean="0">
                <a:solidFill>
                  <a:srgbClr val="002060"/>
                </a:solidFill>
              </a:rPr>
              <a:t>SCIENCE, TECHNOLOGY AND SOCIETY</a:t>
            </a:r>
            <a:endParaRPr lang="en-US" b="1" dirty="0">
              <a:solidFill>
                <a:srgbClr val="002060"/>
              </a:solidFill>
            </a:endParaRPr>
          </a:p>
        </p:txBody>
      </p:sp>
      <p:sp>
        <p:nvSpPr>
          <p:cNvPr id="3" name="Content Placeholder 2"/>
          <p:cNvSpPr>
            <a:spLocks noGrp="1"/>
          </p:cNvSpPr>
          <p:nvPr>
            <p:ph idx="1"/>
          </p:nvPr>
        </p:nvSpPr>
        <p:spPr>
          <a:xfrm>
            <a:off x="304800" y="1676400"/>
            <a:ext cx="8534400" cy="4648200"/>
          </a:xfrm>
        </p:spPr>
        <p:txBody>
          <a:bodyPr>
            <a:normAutofit/>
          </a:bodyPr>
          <a:lstStyle/>
          <a:p>
            <a:pPr>
              <a:buClr>
                <a:srgbClr val="002060"/>
              </a:buClr>
            </a:pPr>
            <a:r>
              <a:rPr lang="en-US" sz="3200" dirty="0">
                <a:solidFill>
                  <a:srgbClr val="002060"/>
                </a:solidFill>
              </a:rPr>
              <a:t>STS is an interdisciplinary field </a:t>
            </a:r>
            <a:r>
              <a:rPr lang="en-US" sz="3200" dirty="0" smtClean="0">
                <a:solidFill>
                  <a:srgbClr val="002060"/>
                </a:solidFill>
              </a:rPr>
              <a:t>that examines </a:t>
            </a:r>
            <a:r>
              <a:rPr lang="en-US" sz="3200" dirty="0">
                <a:solidFill>
                  <a:srgbClr val="002060"/>
                </a:solidFill>
              </a:rPr>
              <a:t>how science and </a:t>
            </a:r>
            <a:r>
              <a:rPr lang="en-US" sz="3200" dirty="0" smtClean="0">
                <a:solidFill>
                  <a:srgbClr val="002060"/>
                </a:solidFill>
              </a:rPr>
              <a:t>technology shape </a:t>
            </a:r>
            <a:r>
              <a:rPr lang="en-US" sz="3200" dirty="0">
                <a:solidFill>
                  <a:srgbClr val="002060"/>
                </a:solidFill>
              </a:rPr>
              <a:t>societies, cultures, and the environment and how social, cultural, and environmental factors shape the development of science and technology. </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81" y="4714875"/>
            <a:ext cx="2143125"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4762722"/>
            <a:ext cx="3824513" cy="2095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847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229600" cy="1154097"/>
          </a:xfrm>
        </p:spPr>
        <p:txBody>
          <a:bodyPr>
            <a:normAutofit/>
          </a:bodyPr>
          <a:lstStyle/>
          <a:p>
            <a:r>
              <a:rPr lang="en-US" b="1" dirty="0" smtClean="0">
                <a:solidFill>
                  <a:srgbClr val="002060"/>
                </a:solidFill>
              </a:rPr>
              <a:t>DEFINITIONS OF SCIENCE</a:t>
            </a:r>
            <a:endParaRPr lang="en-US" b="1" dirty="0">
              <a:solidFill>
                <a:srgbClr val="002060"/>
              </a:solidFill>
            </a:endParaRPr>
          </a:p>
        </p:txBody>
      </p:sp>
      <p:sp>
        <p:nvSpPr>
          <p:cNvPr id="3" name="Content Placeholder 2"/>
          <p:cNvSpPr>
            <a:spLocks noGrp="1"/>
          </p:cNvSpPr>
          <p:nvPr>
            <p:ph idx="1"/>
          </p:nvPr>
        </p:nvSpPr>
        <p:spPr>
          <a:xfrm>
            <a:off x="228600" y="2209800"/>
            <a:ext cx="8534400" cy="4648200"/>
          </a:xfrm>
        </p:spPr>
        <p:txBody>
          <a:bodyPr>
            <a:normAutofit/>
          </a:bodyPr>
          <a:lstStyle/>
          <a:p>
            <a:pPr marL="662940" lvl="1" indent="-342900">
              <a:buFont typeface="+mj-lt"/>
              <a:buAutoNum type="alphaLcPeriod"/>
            </a:pPr>
            <a:r>
              <a:rPr lang="en-US" sz="3200" dirty="0">
                <a:solidFill>
                  <a:srgbClr val="002060"/>
                </a:solidFill>
              </a:rPr>
              <a:t>Concerned with discovering relationships between observable phenomena in terms of theories.</a:t>
            </a:r>
          </a:p>
          <a:p>
            <a:pPr marL="662940" lvl="1" indent="-342900">
              <a:buFont typeface="+mj-lt"/>
              <a:buAutoNum type="alphaLcPeriod"/>
            </a:pPr>
            <a:r>
              <a:rPr lang="en-US" sz="3200" dirty="0">
                <a:solidFill>
                  <a:srgbClr val="002060"/>
                </a:solidFill>
              </a:rPr>
              <a:t>Systematized theoretical inquiries</a:t>
            </a:r>
          </a:p>
          <a:p>
            <a:pPr marL="662940" lvl="1" indent="-342900">
              <a:buFont typeface="+mj-lt"/>
              <a:buAutoNum type="alphaLcPeriod"/>
            </a:pPr>
            <a:r>
              <a:rPr lang="en-US" sz="3200" dirty="0">
                <a:solidFill>
                  <a:srgbClr val="002060"/>
                </a:solidFill>
              </a:rPr>
              <a:t>It seeks for truth about nature.</a:t>
            </a:r>
          </a:p>
          <a:p>
            <a:pPr marL="662940" lvl="1" indent="-342900">
              <a:buFont typeface="+mj-lt"/>
              <a:buAutoNum type="alphaLcPeriod"/>
            </a:pPr>
            <a:r>
              <a:rPr lang="en-US" sz="3200" dirty="0">
                <a:solidFill>
                  <a:srgbClr val="002060"/>
                </a:solidFill>
              </a:rPr>
              <a:t>It is determined by observation, hypothesis, measurement, analysis and experimentation</a:t>
            </a:r>
          </a:p>
        </p:txBody>
      </p:sp>
      <p:sp>
        <p:nvSpPr>
          <p:cNvPr id="6" name="Title 1"/>
          <p:cNvSpPr txBox="1">
            <a:spLocks/>
          </p:cNvSpPr>
          <p:nvPr/>
        </p:nvSpPr>
        <p:spPr>
          <a:xfrm>
            <a:off x="386316" y="1371599"/>
            <a:ext cx="8229600" cy="615149"/>
          </a:xfrm>
          <a:prstGeom prst="rect">
            <a:avLst/>
          </a:prstGeom>
        </p:spPr>
        <p:txBody>
          <a:bodyPr vert="horz" lIns="91440" tIns="45720" rIns="91440" bIns="45720" rtlCol="0" anchor="b">
            <a:normAutofit fontScale="92500" lnSpcReduction="10000"/>
          </a:bodyPr>
          <a:lstStyle>
            <a:lvl1pPr algn="l" defTabSz="914400" rtl="0" eaLnBrk="1" latinLnBrk="0" hangingPunct="1">
              <a:spcBef>
                <a:spcPct val="0"/>
              </a:spcBef>
              <a:buNone/>
              <a:defRPr sz="4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smtClean="0">
                <a:solidFill>
                  <a:srgbClr val="002060"/>
                </a:solidFill>
              </a:rPr>
              <a:t>1. SCIENCE AS A PROCESS</a:t>
            </a:r>
            <a:endParaRPr lang="en-US" b="1" dirty="0">
              <a:solidFill>
                <a:srgbClr val="002060"/>
              </a:solidFill>
            </a:endParaRPr>
          </a:p>
        </p:txBody>
      </p:sp>
    </p:spTree>
    <p:extLst>
      <p:ext uri="{BB962C8B-B14F-4D97-AF65-F5344CB8AC3E}">
        <p14:creationId xmlns:p14="http://schemas.microsoft.com/office/powerpoint/2010/main" val="4232346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229600" cy="1154097"/>
          </a:xfrm>
        </p:spPr>
        <p:txBody>
          <a:bodyPr>
            <a:normAutofit/>
          </a:bodyPr>
          <a:lstStyle/>
          <a:p>
            <a:r>
              <a:rPr lang="en-US" b="1" dirty="0" smtClean="0">
                <a:solidFill>
                  <a:srgbClr val="002060"/>
                </a:solidFill>
              </a:rPr>
              <a:t>DEFINITIONS OF SCIENCE</a:t>
            </a:r>
            <a:endParaRPr lang="en-US" b="1" dirty="0">
              <a:solidFill>
                <a:srgbClr val="002060"/>
              </a:solidFill>
            </a:endParaRPr>
          </a:p>
        </p:txBody>
      </p:sp>
      <p:sp>
        <p:nvSpPr>
          <p:cNvPr id="3" name="Content Placeholder 2"/>
          <p:cNvSpPr>
            <a:spLocks noGrp="1"/>
          </p:cNvSpPr>
          <p:nvPr>
            <p:ph idx="1"/>
          </p:nvPr>
        </p:nvSpPr>
        <p:spPr>
          <a:xfrm>
            <a:off x="228600" y="2209800"/>
            <a:ext cx="8534400" cy="4648200"/>
          </a:xfrm>
        </p:spPr>
        <p:txBody>
          <a:bodyPr>
            <a:normAutofit fontScale="85000" lnSpcReduction="20000"/>
          </a:bodyPr>
          <a:lstStyle/>
          <a:p>
            <a:pPr marL="834390" lvl="1" indent="-514350">
              <a:buFont typeface="+mj-lt"/>
              <a:buAutoNum type="alphaLcPeriod"/>
            </a:pPr>
            <a:r>
              <a:rPr lang="en-US" sz="3200" dirty="0">
                <a:solidFill>
                  <a:srgbClr val="002060"/>
                </a:solidFill>
              </a:rPr>
              <a:t>Systematized, organized body of knowledge based on facts or truths observations.</a:t>
            </a:r>
          </a:p>
          <a:p>
            <a:pPr marL="834390" lvl="1" indent="-514350">
              <a:buFont typeface="+mj-lt"/>
              <a:buAutoNum type="alphaLcPeriod"/>
            </a:pPr>
            <a:r>
              <a:rPr lang="en-US" sz="3200" dirty="0">
                <a:solidFill>
                  <a:srgbClr val="002060"/>
                </a:solidFill>
              </a:rPr>
              <a:t>A set of logical and empirical methods which provide for the systematic observation of empirical phenomena.</a:t>
            </a:r>
          </a:p>
          <a:p>
            <a:pPr marL="834390" lvl="1" indent="-514350">
              <a:buFont typeface="+mj-lt"/>
              <a:buAutoNum type="alphaLcPeriod"/>
            </a:pPr>
            <a:r>
              <a:rPr lang="en-US" sz="3200" dirty="0">
                <a:solidFill>
                  <a:srgbClr val="002060"/>
                </a:solidFill>
              </a:rPr>
              <a:t>Source of cognitive authority.</a:t>
            </a:r>
          </a:p>
          <a:p>
            <a:pPr marL="834390" lvl="1" indent="-514350">
              <a:buFont typeface="+mj-lt"/>
              <a:buAutoNum type="alphaLcPeriod"/>
            </a:pPr>
            <a:r>
              <a:rPr lang="en-US" sz="3200" dirty="0">
                <a:solidFill>
                  <a:srgbClr val="002060"/>
                </a:solidFill>
              </a:rPr>
              <a:t>Concerned with verifiable concepts</a:t>
            </a:r>
          </a:p>
          <a:p>
            <a:pPr marL="834390" lvl="1" indent="-514350">
              <a:buFont typeface="+mj-lt"/>
              <a:buAutoNum type="alphaLcPeriod"/>
            </a:pPr>
            <a:r>
              <a:rPr lang="en-US" sz="3200" dirty="0">
                <a:solidFill>
                  <a:srgbClr val="002060"/>
                </a:solidFill>
              </a:rPr>
              <a:t>A product of the mind</a:t>
            </a:r>
          </a:p>
          <a:p>
            <a:pPr marL="834390" lvl="1" indent="-514350">
              <a:buFont typeface="+mj-lt"/>
              <a:buAutoNum type="alphaLcPeriod"/>
            </a:pPr>
            <a:r>
              <a:rPr lang="en-US" sz="3200" dirty="0">
                <a:solidFill>
                  <a:srgbClr val="002060"/>
                </a:solidFill>
              </a:rPr>
              <a:t>It is the variety of knowledge, people, skills, organizations, facilities, techniques, physical resources, methods and technologies that taken together and in relation with one another.</a:t>
            </a:r>
          </a:p>
        </p:txBody>
      </p:sp>
      <p:sp>
        <p:nvSpPr>
          <p:cNvPr id="6" name="Title 1"/>
          <p:cNvSpPr txBox="1">
            <a:spLocks/>
          </p:cNvSpPr>
          <p:nvPr/>
        </p:nvSpPr>
        <p:spPr>
          <a:xfrm>
            <a:off x="386316" y="1371599"/>
            <a:ext cx="8229600" cy="615149"/>
          </a:xfrm>
          <a:prstGeom prst="rect">
            <a:avLst/>
          </a:prstGeom>
        </p:spPr>
        <p:txBody>
          <a:bodyPr vert="horz" lIns="91440" tIns="45720" rIns="91440" bIns="45720" rtlCol="0" anchor="b">
            <a:normAutofit fontScale="92500" lnSpcReduction="10000"/>
          </a:bodyPr>
          <a:lstStyle>
            <a:lvl1pPr algn="l" defTabSz="914400" rtl="0" eaLnBrk="1" latinLnBrk="0" hangingPunct="1">
              <a:spcBef>
                <a:spcPct val="0"/>
              </a:spcBef>
              <a:buNone/>
              <a:defRPr sz="4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rgbClr val="002060"/>
                </a:solidFill>
              </a:rPr>
              <a:t>2</a:t>
            </a:r>
            <a:r>
              <a:rPr lang="en-US" b="1" dirty="0" smtClean="0">
                <a:solidFill>
                  <a:srgbClr val="002060"/>
                </a:solidFill>
              </a:rPr>
              <a:t>. SCIENCE IS A PRODUCT</a:t>
            </a:r>
            <a:endParaRPr lang="en-US" b="1" dirty="0">
              <a:solidFill>
                <a:srgbClr val="002060"/>
              </a:solidFill>
            </a:endParaRPr>
          </a:p>
        </p:txBody>
      </p:sp>
    </p:spTree>
    <p:extLst>
      <p:ext uri="{BB962C8B-B14F-4D97-AF65-F5344CB8AC3E}">
        <p14:creationId xmlns:p14="http://schemas.microsoft.com/office/powerpoint/2010/main" val="2350705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229600" cy="1154097"/>
          </a:xfrm>
        </p:spPr>
        <p:txBody>
          <a:bodyPr>
            <a:normAutofit/>
          </a:bodyPr>
          <a:lstStyle/>
          <a:p>
            <a:r>
              <a:rPr lang="en-US" b="1" dirty="0" smtClean="0">
                <a:solidFill>
                  <a:srgbClr val="002060"/>
                </a:solidFill>
              </a:rPr>
              <a:t>DEFINITIONS OF TECHNOLOGY</a:t>
            </a:r>
            <a:endParaRPr lang="en-US" b="1" dirty="0">
              <a:solidFill>
                <a:srgbClr val="002060"/>
              </a:solidFill>
            </a:endParaRPr>
          </a:p>
        </p:txBody>
      </p:sp>
      <p:sp>
        <p:nvSpPr>
          <p:cNvPr id="3" name="Content Placeholder 2"/>
          <p:cNvSpPr>
            <a:spLocks noGrp="1"/>
          </p:cNvSpPr>
          <p:nvPr>
            <p:ph idx="1"/>
          </p:nvPr>
        </p:nvSpPr>
        <p:spPr>
          <a:xfrm>
            <a:off x="228600" y="2209800"/>
            <a:ext cx="8534400" cy="4648200"/>
          </a:xfrm>
        </p:spPr>
        <p:txBody>
          <a:bodyPr>
            <a:normAutofit fontScale="92500" lnSpcReduction="10000"/>
          </a:bodyPr>
          <a:lstStyle/>
          <a:p>
            <a:pPr marL="662940" lvl="1" indent="-342900">
              <a:buFont typeface="+mj-lt"/>
              <a:buAutoNum type="alphaLcPeriod"/>
            </a:pPr>
            <a:r>
              <a:rPr lang="en-US" sz="3200" dirty="0" smtClean="0">
                <a:solidFill>
                  <a:srgbClr val="002060"/>
                </a:solidFill>
              </a:rPr>
              <a:t>It </a:t>
            </a:r>
            <a:r>
              <a:rPr lang="en-US" sz="3200" dirty="0">
                <a:solidFill>
                  <a:srgbClr val="002060"/>
                </a:solidFill>
              </a:rPr>
              <a:t>is the application of science.</a:t>
            </a:r>
          </a:p>
          <a:p>
            <a:pPr marL="662940" lvl="1" indent="-342900">
              <a:buFont typeface="+mj-lt"/>
              <a:buAutoNum type="alphaLcPeriod"/>
            </a:pPr>
            <a:r>
              <a:rPr lang="en-US" sz="3200" dirty="0" smtClean="0">
                <a:solidFill>
                  <a:srgbClr val="002060"/>
                </a:solidFill>
              </a:rPr>
              <a:t>The </a:t>
            </a:r>
            <a:r>
              <a:rPr lang="en-US" sz="3200" dirty="0">
                <a:solidFill>
                  <a:srgbClr val="002060"/>
                </a:solidFill>
              </a:rPr>
              <a:t>practice, description, and terminology of applied sciences.</a:t>
            </a:r>
          </a:p>
          <a:p>
            <a:pPr marL="662940" lvl="1" indent="-342900">
              <a:buFont typeface="+mj-lt"/>
              <a:buAutoNum type="alphaLcPeriod"/>
            </a:pPr>
            <a:r>
              <a:rPr lang="en-US" sz="3200" dirty="0" smtClean="0">
                <a:solidFill>
                  <a:srgbClr val="002060"/>
                </a:solidFill>
              </a:rPr>
              <a:t>The </a:t>
            </a:r>
            <a:r>
              <a:rPr lang="en-US" sz="3200" dirty="0">
                <a:solidFill>
                  <a:srgbClr val="002060"/>
                </a:solidFill>
              </a:rPr>
              <a:t>intelligent organization and manipulation of materials for useful purposes.</a:t>
            </a:r>
          </a:p>
          <a:p>
            <a:pPr marL="662940" lvl="1" indent="-342900">
              <a:buFont typeface="+mj-lt"/>
              <a:buAutoNum type="alphaLcPeriod"/>
            </a:pPr>
            <a:r>
              <a:rPr lang="en-US" sz="3200" dirty="0" smtClean="0">
                <a:solidFill>
                  <a:srgbClr val="002060"/>
                </a:solidFill>
              </a:rPr>
              <a:t>The </a:t>
            </a:r>
            <a:r>
              <a:rPr lang="en-US" sz="3200" dirty="0">
                <a:solidFill>
                  <a:srgbClr val="002060"/>
                </a:solidFill>
              </a:rPr>
              <a:t>means employed to provide for human needs and wants.</a:t>
            </a:r>
          </a:p>
          <a:p>
            <a:pPr marL="662940" lvl="1" indent="-342900">
              <a:buFont typeface="+mj-lt"/>
              <a:buAutoNum type="alphaLcPeriod"/>
            </a:pPr>
            <a:r>
              <a:rPr lang="en-US" sz="3200" dirty="0" smtClean="0">
                <a:solidFill>
                  <a:srgbClr val="002060"/>
                </a:solidFill>
              </a:rPr>
              <a:t>Focused </a:t>
            </a:r>
            <a:r>
              <a:rPr lang="en-US" sz="3200" dirty="0">
                <a:solidFill>
                  <a:srgbClr val="002060"/>
                </a:solidFill>
              </a:rPr>
              <a:t>on inventing new or better tools and materials or new and better ways of doing things.</a:t>
            </a:r>
          </a:p>
        </p:txBody>
      </p:sp>
      <p:sp>
        <p:nvSpPr>
          <p:cNvPr id="6" name="Title 1"/>
          <p:cNvSpPr txBox="1">
            <a:spLocks/>
          </p:cNvSpPr>
          <p:nvPr/>
        </p:nvSpPr>
        <p:spPr>
          <a:xfrm>
            <a:off x="386316" y="1371599"/>
            <a:ext cx="8229600" cy="615149"/>
          </a:xfrm>
          <a:prstGeom prst="rect">
            <a:avLst/>
          </a:prstGeom>
        </p:spPr>
        <p:txBody>
          <a:bodyPr vert="horz" lIns="91440" tIns="45720" rIns="91440" bIns="45720" rtlCol="0" anchor="b">
            <a:normAutofit fontScale="92500" lnSpcReduction="10000"/>
          </a:bodyPr>
          <a:lstStyle>
            <a:lvl1pPr algn="l" defTabSz="914400" rtl="0" eaLnBrk="1" latinLnBrk="0" hangingPunct="1">
              <a:spcBef>
                <a:spcPct val="0"/>
              </a:spcBef>
              <a:buNone/>
              <a:defRPr sz="4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smtClean="0">
                <a:solidFill>
                  <a:srgbClr val="002060"/>
                </a:solidFill>
              </a:rPr>
              <a:t>1. TECHNOLOGY AS A PROCESS</a:t>
            </a:r>
            <a:endParaRPr lang="en-US" b="1" dirty="0">
              <a:solidFill>
                <a:srgbClr val="002060"/>
              </a:solidFill>
            </a:endParaRPr>
          </a:p>
        </p:txBody>
      </p:sp>
    </p:spTree>
    <p:extLst>
      <p:ext uri="{BB962C8B-B14F-4D97-AF65-F5344CB8AC3E}">
        <p14:creationId xmlns:p14="http://schemas.microsoft.com/office/powerpoint/2010/main" val="2332087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229600" cy="1154097"/>
          </a:xfrm>
        </p:spPr>
        <p:txBody>
          <a:bodyPr>
            <a:normAutofit/>
          </a:bodyPr>
          <a:lstStyle/>
          <a:p>
            <a:r>
              <a:rPr lang="en-US" b="1" dirty="0" smtClean="0">
                <a:solidFill>
                  <a:srgbClr val="002060"/>
                </a:solidFill>
              </a:rPr>
              <a:t>DEFINITIONS OF TECHNOLOGY</a:t>
            </a:r>
            <a:endParaRPr lang="en-US" b="1" dirty="0">
              <a:solidFill>
                <a:srgbClr val="002060"/>
              </a:solidFill>
            </a:endParaRPr>
          </a:p>
        </p:txBody>
      </p:sp>
      <p:sp>
        <p:nvSpPr>
          <p:cNvPr id="3" name="Content Placeholder 2"/>
          <p:cNvSpPr>
            <a:spLocks noGrp="1"/>
          </p:cNvSpPr>
          <p:nvPr>
            <p:ph idx="1"/>
          </p:nvPr>
        </p:nvSpPr>
        <p:spPr>
          <a:xfrm>
            <a:off x="228600" y="2209800"/>
            <a:ext cx="8534400" cy="4648200"/>
          </a:xfrm>
        </p:spPr>
        <p:txBody>
          <a:bodyPr>
            <a:normAutofit lnSpcReduction="10000"/>
          </a:bodyPr>
          <a:lstStyle/>
          <a:p>
            <a:pPr marL="834390" lvl="1" indent="-514350">
              <a:buFont typeface="+mj-lt"/>
              <a:buAutoNum type="alphaLcPeriod" startAt="6"/>
            </a:pPr>
            <a:r>
              <a:rPr lang="en-US" sz="3200" dirty="0" smtClean="0">
                <a:solidFill>
                  <a:srgbClr val="002060"/>
                </a:solidFill>
              </a:rPr>
              <a:t>A </a:t>
            </a:r>
            <a:r>
              <a:rPr lang="en-US" sz="3200" dirty="0">
                <a:solidFill>
                  <a:srgbClr val="002060"/>
                </a:solidFill>
              </a:rPr>
              <a:t>way of using findings of science to produce new things for a better way of living.</a:t>
            </a:r>
          </a:p>
          <a:p>
            <a:pPr marL="834390" lvl="1" indent="-514350">
              <a:buFont typeface="+mj-lt"/>
              <a:buAutoNum type="alphaLcPeriod" startAt="6"/>
            </a:pPr>
            <a:r>
              <a:rPr lang="en-US" sz="3200" dirty="0" smtClean="0">
                <a:solidFill>
                  <a:srgbClr val="002060"/>
                </a:solidFill>
              </a:rPr>
              <a:t>Search </a:t>
            </a:r>
            <a:r>
              <a:rPr lang="en-US" sz="3200" dirty="0">
                <a:solidFill>
                  <a:srgbClr val="002060"/>
                </a:solidFill>
              </a:rPr>
              <a:t>for concrete solutions that work and give wanted results.</a:t>
            </a:r>
          </a:p>
          <a:p>
            <a:pPr marL="834390" lvl="1" indent="-514350">
              <a:buFont typeface="+mj-lt"/>
              <a:buAutoNum type="alphaLcPeriod" startAt="6"/>
            </a:pPr>
            <a:r>
              <a:rPr lang="en-US" sz="3200" dirty="0" smtClean="0">
                <a:solidFill>
                  <a:srgbClr val="002060"/>
                </a:solidFill>
              </a:rPr>
              <a:t>It </a:t>
            </a:r>
            <a:r>
              <a:rPr lang="en-US" sz="3200" dirty="0">
                <a:solidFill>
                  <a:srgbClr val="002060"/>
                </a:solidFill>
              </a:rPr>
              <a:t>is characteristically calculative and imitative, tends to be dangerously manipulative</a:t>
            </a:r>
            <a:r>
              <a:rPr lang="en-US" sz="3200" dirty="0" smtClean="0">
                <a:solidFill>
                  <a:srgbClr val="002060"/>
                </a:solidFill>
              </a:rPr>
              <a:t>.</a:t>
            </a:r>
          </a:p>
          <a:p>
            <a:pPr marL="834390" lvl="1" indent="-514350">
              <a:buFont typeface="+mj-lt"/>
              <a:buAutoNum type="alphaLcPeriod" startAt="6"/>
            </a:pPr>
            <a:r>
              <a:rPr lang="en-US" sz="3200" dirty="0" smtClean="0">
                <a:solidFill>
                  <a:srgbClr val="002060"/>
                </a:solidFill>
              </a:rPr>
              <a:t>Form </a:t>
            </a:r>
            <a:r>
              <a:rPr lang="en-US" sz="3200" dirty="0">
                <a:solidFill>
                  <a:srgbClr val="002060"/>
                </a:solidFill>
              </a:rPr>
              <a:t>of human cultural activity.</a:t>
            </a:r>
          </a:p>
        </p:txBody>
      </p:sp>
      <p:sp>
        <p:nvSpPr>
          <p:cNvPr id="6" name="Title 1"/>
          <p:cNvSpPr txBox="1">
            <a:spLocks/>
          </p:cNvSpPr>
          <p:nvPr/>
        </p:nvSpPr>
        <p:spPr>
          <a:xfrm>
            <a:off x="386316" y="1371599"/>
            <a:ext cx="8229600" cy="615149"/>
          </a:xfrm>
          <a:prstGeom prst="rect">
            <a:avLst/>
          </a:prstGeom>
        </p:spPr>
        <p:txBody>
          <a:bodyPr vert="horz" lIns="91440" tIns="45720" rIns="91440" bIns="45720" rtlCol="0" anchor="b">
            <a:normAutofit fontScale="92500" lnSpcReduction="10000"/>
          </a:bodyPr>
          <a:lstStyle>
            <a:lvl1pPr algn="l" defTabSz="914400" rtl="0" eaLnBrk="1" latinLnBrk="0" hangingPunct="1">
              <a:spcBef>
                <a:spcPct val="0"/>
              </a:spcBef>
              <a:buNone/>
              <a:defRPr sz="4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smtClean="0">
                <a:solidFill>
                  <a:srgbClr val="002060"/>
                </a:solidFill>
              </a:rPr>
              <a:t>1. TECHNOLOGY AS A PROCESS</a:t>
            </a:r>
            <a:endParaRPr lang="en-US" b="1" dirty="0">
              <a:solidFill>
                <a:srgbClr val="002060"/>
              </a:solidFill>
            </a:endParaRPr>
          </a:p>
        </p:txBody>
      </p:sp>
    </p:spTree>
    <p:extLst>
      <p:ext uri="{BB962C8B-B14F-4D97-AF65-F5344CB8AC3E}">
        <p14:creationId xmlns:p14="http://schemas.microsoft.com/office/powerpoint/2010/main" val="1180026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229600" cy="1154097"/>
          </a:xfrm>
        </p:spPr>
        <p:txBody>
          <a:bodyPr>
            <a:normAutofit/>
          </a:bodyPr>
          <a:lstStyle/>
          <a:p>
            <a:r>
              <a:rPr lang="en-US" b="1" dirty="0" smtClean="0">
                <a:solidFill>
                  <a:srgbClr val="002060"/>
                </a:solidFill>
              </a:rPr>
              <a:t>DEFINITIONS OF TECHNOLOGY</a:t>
            </a:r>
            <a:endParaRPr lang="en-US" b="1" dirty="0">
              <a:solidFill>
                <a:srgbClr val="002060"/>
              </a:solidFill>
            </a:endParaRPr>
          </a:p>
        </p:txBody>
      </p:sp>
      <p:sp>
        <p:nvSpPr>
          <p:cNvPr id="3" name="Content Placeholder 2"/>
          <p:cNvSpPr>
            <a:spLocks noGrp="1"/>
          </p:cNvSpPr>
          <p:nvPr>
            <p:ph idx="1"/>
          </p:nvPr>
        </p:nvSpPr>
        <p:spPr>
          <a:xfrm>
            <a:off x="228600" y="2209800"/>
            <a:ext cx="8534400" cy="4648200"/>
          </a:xfrm>
        </p:spPr>
        <p:txBody>
          <a:bodyPr>
            <a:normAutofit fontScale="85000" lnSpcReduction="10000"/>
          </a:bodyPr>
          <a:lstStyle/>
          <a:p>
            <a:pPr marL="662940" lvl="1" indent="-342900">
              <a:buFont typeface="+mj-lt"/>
              <a:buAutoNum type="alphaLcPeriod"/>
            </a:pPr>
            <a:r>
              <a:rPr lang="en-US" sz="3200" dirty="0" smtClean="0">
                <a:solidFill>
                  <a:srgbClr val="002060"/>
                </a:solidFill>
              </a:rPr>
              <a:t>A </a:t>
            </a:r>
            <a:r>
              <a:rPr lang="en-US" sz="3200" dirty="0">
                <a:solidFill>
                  <a:srgbClr val="002060"/>
                </a:solidFill>
              </a:rPr>
              <a:t>system of know-how, skills, techniques and processes.</a:t>
            </a:r>
          </a:p>
          <a:p>
            <a:pPr marL="662940" lvl="1" indent="-342900">
              <a:buFont typeface="+mj-lt"/>
              <a:buAutoNum type="alphaLcPeriod"/>
            </a:pPr>
            <a:r>
              <a:rPr lang="en-US" sz="3200" dirty="0" smtClean="0">
                <a:solidFill>
                  <a:srgbClr val="002060"/>
                </a:solidFill>
              </a:rPr>
              <a:t>It </a:t>
            </a:r>
            <a:r>
              <a:rPr lang="en-US" sz="3200" dirty="0">
                <a:solidFill>
                  <a:srgbClr val="002060"/>
                </a:solidFill>
              </a:rPr>
              <a:t>is like a language, rituals, values, commerce and arts, it is an intrinsic part of a cultural system and it both shapes and reflects the system values.</a:t>
            </a:r>
          </a:p>
          <a:p>
            <a:pPr marL="662940" lvl="1" indent="-342900">
              <a:buFont typeface="+mj-lt"/>
              <a:buAutoNum type="alphaLcPeriod"/>
            </a:pPr>
            <a:r>
              <a:rPr lang="en-US" sz="3200" dirty="0" smtClean="0">
                <a:solidFill>
                  <a:srgbClr val="002060"/>
                </a:solidFill>
              </a:rPr>
              <a:t>It </a:t>
            </a:r>
            <a:r>
              <a:rPr lang="en-US" sz="3200" dirty="0">
                <a:solidFill>
                  <a:srgbClr val="002060"/>
                </a:solidFill>
              </a:rPr>
              <a:t>is the product of the scientific concept.</a:t>
            </a:r>
          </a:p>
          <a:p>
            <a:pPr marL="662940" lvl="1" indent="-342900">
              <a:buFont typeface="+mj-lt"/>
              <a:buAutoNum type="alphaLcPeriod"/>
            </a:pPr>
            <a:r>
              <a:rPr lang="en-US" sz="3200" dirty="0" smtClean="0">
                <a:solidFill>
                  <a:srgbClr val="002060"/>
                </a:solidFill>
              </a:rPr>
              <a:t>The </a:t>
            </a:r>
            <a:r>
              <a:rPr lang="en-US" sz="3200" dirty="0">
                <a:solidFill>
                  <a:srgbClr val="002060"/>
                </a:solidFill>
              </a:rPr>
              <a:t>complex combination of knowledge, materials and methods.</a:t>
            </a:r>
          </a:p>
          <a:p>
            <a:pPr marL="662940" lvl="1" indent="-342900">
              <a:buFont typeface="+mj-lt"/>
              <a:buAutoNum type="alphaLcPeriod"/>
            </a:pPr>
            <a:r>
              <a:rPr lang="en-US" sz="3200" dirty="0" smtClean="0">
                <a:solidFill>
                  <a:srgbClr val="002060"/>
                </a:solidFill>
              </a:rPr>
              <a:t>Material </a:t>
            </a:r>
            <a:r>
              <a:rPr lang="en-US" sz="3200" dirty="0">
                <a:solidFill>
                  <a:srgbClr val="002060"/>
                </a:solidFill>
              </a:rPr>
              <a:t>products of human making or fabrication.</a:t>
            </a:r>
          </a:p>
          <a:p>
            <a:pPr marL="662940" lvl="1" indent="-342900">
              <a:buFont typeface="+mj-lt"/>
              <a:buAutoNum type="alphaLcPeriod"/>
            </a:pPr>
            <a:r>
              <a:rPr lang="en-US" sz="3200" dirty="0" smtClean="0">
                <a:solidFill>
                  <a:srgbClr val="002060"/>
                </a:solidFill>
              </a:rPr>
              <a:t>Total </a:t>
            </a:r>
            <a:r>
              <a:rPr lang="en-US" sz="3200" dirty="0">
                <a:solidFill>
                  <a:srgbClr val="002060"/>
                </a:solidFill>
              </a:rPr>
              <a:t>societal enterprise</a:t>
            </a:r>
            <a:r>
              <a:rPr lang="en-US" sz="3200" dirty="0" smtClean="0">
                <a:solidFill>
                  <a:srgbClr val="002060"/>
                </a:solidFill>
              </a:rPr>
              <a:t>.</a:t>
            </a:r>
          </a:p>
          <a:p>
            <a:pPr marL="320040" lvl="1" indent="0">
              <a:buNone/>
            </a:pPr>
            <a:endParaRPr lang="en-US" sz="3200" dirty="0">
              <a:solidFill>
                <a:srgbClr val="002060"/>
              </a:solidFill>
            </a:endParaRPr>
          </a:p>
        </p:txBody>
      </p:sp>
      <p:sp>
        <p:nvSpPr>
          <p:cNvPr id="6" name="Title 1"/>
          <p:cNvSpPr txBox="1">
            <a:spLocks/>
          </p:cNvSpPr>
          <p:nvPr/>
        </p:nvSpPr>
        <p:spPr>
          <a:xfrm>
            <a:off x="386316" y="1371599"/>
            <a:ext cx="8229600" cy="615149"/>
          </a:xfrm>
          <a:prstGeom prst="rect">
            <a:avLst/>
          </a:prstGeom>
        </p:spPr>
        <p:txBody>
          <a:bodyPr vert="horz" lIns="91440" tIns="45720" rIns="91440" bIns="45720" rtlCol="0" anchor="b">
            <a:normAutofit fontScale="92500" lnSpcReduction="10000"/>
          </a:bodyPr>
          <a:lstStyle>
            <a:lvl1pPr algn="l" defTabSz="914400" rtl="0" eaLnBrk="1" latinLnBrk="0" hangingPunct="1">
              <a:spcBef>
                <a:spcPct val="0"/>
              </a:spcBef>
              <a:buNone/>
              <a:defRPr sz="4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smtClean="0">
                <a:solidFill>
                  <a:srgbClr val="002060"/>
                </a:solidFill>
              </a:rPr>
              <a:t>2. TECHNOLOGY AS A PRODUCT</a:t>
            </a:r>
            <a:endParaRPr lang="en-US" b="1" dirty="0">
              <a:solidFill>
                <a:srgbClr val="002060"/>
              </a:solidFill>
            </a:endParaRPr>
          </a:p>
        </p:txBody>
      </p:sp>
    </p:spTree>
    <p:extLst>
      <p:ext uri="{BB962C8B-B14F-4D97-AF65-F5344CB8AC3E}">
        <p14:creationId xmlns:p14="http://schemas.microsoft.com/office/powerpoint/2010/main" val="2005594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229600" cy="1154097"/>
          </a:xfrm>
        </p:spPr>
        <p:txBody>
          <a:bodyPr>
            <a:normAutofit fontScale="90000"/>
          </a:bodyPr>
          <a:lstStyle/>
          <a:p>
            <a:r>
              <a:rPr lang="en-US" b="1" dirty="0" smtClean="0">
                <a:solidFill>
                  <a:srgbClr val="002060"/>
                </a:solidFill>
              </a:rPr>
              <a:t>DEFINITIONS OF SCIENCE AND TECHNOLOGY</a:t>
            </a:r>
            <a:endParaRPr lang="en-US" b="1" dirty="0">
              <a:solidFill>
                <a:srgbClr val="002060"/>
              </a:solidFill>
            </a:endParaRPr>
          </a:p>
        </p:txBody>
      </p:sp>
      <p:sp>
        <p:nvSpPr>
          <p:cNvPr id="3" name="Content Placeholder 2"/>
          <p:cNvSpPr>
            <a:spLocks noGrp="1"/>
          </p:cNvSpPr>
          <p:nvPr>
            <p:ph idx="1"/>
          </p:nvPr>
        </p:nvSpPr>
        <p:spPr>
          <a:xfrm>
            <a:off x="152400" y="1447800"/>
            <a:ext cx="8534400" cy="4648200"/>
          </a:xfrm>
        </p:spPr>
        <p:txBody>
          <a:bodyPr>
            <a:normAutofit/>
          </a:bodyPr>
          <a:lstStyle/>
          <a:p>
            <a:pPr marL="834390" lvl="1" indent="-514350">
              <a:buFont typeface="+mj-lt"/>
              <a:buAutoNum type="arabicPeriod"/>
            </a:pPr>
            <a:r>
              <a:rPr lang="en-US" sz="3200" dirty="0" smtClean="0">
                <a:solidFill>
                  <a:srgbClr val="002060"/>
                </a:solidFill>
              </a:rPr>
              <a:t>A </a:t>
            </a:r>
            <a:r>
              <a:rPr lang="en-US" sz="3200" dirty="0">
                <a:solidFill>
                  <a:srgbClr val="002060"/>
                </a:solidFill>
              </a:rPr>
              <a:t>field of endeavor upon which a two-way interaction operates between science and technology.</a:t>
            </a:r>
          </a:p>
          <a:p>
            <a:pPr marL="662940" lvl="1" indent="-342900">
              <a:buFont typeface="+mj-lt"/>
              <a:buAutoNum type="arabicPeriod"/>
            </a:pPr>
            <a:endParaRPr lang="en-US" sz="3200" dirty="0">
              <a:solidFill>
                <a:srgbClr val="002060"/>
              </a:solidFill>
            </a:endParaRPr>
          </a:p>
          <a:p>
            <a:pPr marL="662940" lvl="1" indent="-342900">
              <a:buFont typeface="+mj-lt"/>
              <a:buAutoNum type="arabicPeriod"/>
            </a:pPr>
            <a:r>
              <a:rPr lang="en-US" sz="3200" dirty="0" smtClean="0">
                <a:solidFill>
                  <a:srgbClr val="002060"/>
                </a:solidFill>
              </a:rPr>
              <a:t>Interdependent </a:t>
            </a:r>
            <a:r>
              <a:rPr lang="en-US" sz="3200" dirty="0">
                <a:solidFill>
                  <a:srgbClr val="002060"/>
                </a:solidFill>
              </a:rPr>
              <a:t>and overlapping methods which employ both existing knowledge and existing know-how.</a:t>
            </a:r>
          </a:p>
        </p:txBody>
      </p:sp>
    </p:spTree>
    <p:extLst>
      <p:ext uri="{BB962C8B-B14F-4D97-AF65-F5344CB8AC3E}">
        <p14:creationId xmlns:p14="http://schemas.microsoft.com/office/powerpoint/2010/main" val="2628937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229600" cy="1154097"/>
          </a:xfrm>
        </p:spPr>
        <p:txBody>
          <a:bodyPr>
            <a:normAutofit fontScale="90000"/>
          </a:bodyPr>
          <a:lstStyle/>
          <a:p>
            <a:r>
              <a:rPr lang="en-US" b="1" dirty="0" smtClean="0">
                <a:solidFill>
                  <a:srgbClr val="002060"/>
                </a:solidFill>
              </a:rPr>
              <a:t>DEFINITIONS OF SCIENCE AND TECHNOLOGY</a:t>
            </a:r>
            <a:endParaRPr lang="en-US" b="1" dirty="0">
              <a:solidFill>
                <a:srgbClr val="002060"/>
              </a:solidFill>
            </a:endParaRPr>
          </a:p>
        </p:txBody>
      </p:sp>
      <p:sp>
        <p:nvSpPr>
          <p:cNvPr id="3" name="Content Placeholder 2"/>
          <p:cNvSpPr>
            <a:spLocks noGrp="1"/>
          </p:cNvSpPr>
          <p:nvPr>
            <p:ph idx="1"/>
          </p:nvPr>
        </p:nvSpPr>
        <p:spPr>
          <a:xfrm>
            <a:off x="152400" y="1447800"/>
            <a:ext cx="8534400" cy="5105400"/>
          </a:xfrm>
        </p:spPr>
        <p:txBody>
          <a:bodyPr>
            <a:normAutofit fontScale="92500" lnSpcReduction="20000"/>
          </a:bodyPr>
          <a:lstStyle/>
          <a:p>
            <a:pPr marL="834390" lvl="1" indent="-514350">
              <a:buFont typeface="+mj-lt"/>
              <a:buAutoNum type="arabicPeriod" startAt="3"/>
            </a:pPr>
            <a:r>
              <a:rPr lang="en-US" sz="3200" dirty="0" smtClean="0">
                <a:solidFill>
                  <a:srgbClr val="002060"/>
                </a:solidFill>
              </a:rPr>
              <a:t>A </a:t>
            </a:r>
            <a:r>
              <a:rPr lang="en-US" sz="3200" dirty="0">
                <a:solidFill>
                  <a:srgbClr val="002060"/>
                </a:solidFill>
              </a:rPr>
              <a:t>system of know-how, skills, techniques and processes which enable society to produce, distribute, install, maintain or improve goods and services needed to satisfy human needs.</a:t>
            </a:r>
          </a:p>
          <a:p>
            <a:pPr marL="834390" lvl="1" indent="-514350">
              <a:buFont typeface="+mj-lt"/>
              <a:buAutoNum type="arabicPeriod" startAt="3"/>
            </a:pPr>
            <a:endParaRPr lang="en-US" sz="3200" dirty="0">
              <a:solidFill>
                <a:srgbClr val="002060"/>
              </a:solidFill>
            </a:endParaRPr>
          </a:p>
          <a:p>
            <a:pPr marL="834390" lvl="1" indent="-514350">
              <a:buFont typeface="+mj-lt"/>
              <a:buAutoNum type="arabicPeriod" startAt="3"/>
            </a:pPr>
            <a:r>
              <a:rPr lang="en-US" sz="3200" dirty="0" smtClean="0">
                <a:solidFill>
                  <a:srgbClr val="002060"/>
                </a:solidFill>
              </a:rPr>
              <a:t>Is </a:t>
            </a:r>
            <a:r>
              <a:rPr lang="en-US" sz="3200" dirty="0">
                <a:solidFill>
                  <a:srgbClr val="002060"/>
                </a:solidFill>
              </a:rPr>
              <a:t>an interdisciplinary field of study that seeks to explore and understand the many ways that modern science and technology shape modern culture, values and institutions, and how modern values shape science and technology</a:t>
            </a:r>
          </a:p>
        </p:txBody>
      </p:sp>
    </p:spTree>
    <p:extLst>
      <p:ext uri="{BB962C8B-B14F-4D97-AF65-F5344CB8AC3E}">
        <p14:creationId xmlns:p14="http://schemas.microsoft.com/office/powerpoint/2010/main" val="3514426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229600" cy="1154097"/>
          </a:xfrm>
        </p:spPr>
        <p:txBody>
          <a:bodyPr>
            <a:normAutofit fontScale="90000"/>
          </a:bodyPr>
          <a:lstStyle/>
          <a:p>
            <a:r>
              <a:rPr lang="en-US" b="1" dirty="0" smtClean="0">
                <a:solidFill>
                  <a:srgbClr val="002060"/>
                </a:solidFill>
              </a:rPr>
              <a:t>PURPOSE OF SCIENCE AND TECHNOLOGY</a:t>
            </a:r>
            <a:endParaRPr lang="en-US" b="1" dirty="0">
              <a:solidFill>
                <a:srgbClr val="002060"/>
              </a:solidFill>
            </a:endParaRPr>
          </a:p>
        </p:txBody>
      </p:sp>
      <p:sp>
        <p:nvSpPr>
          <p:cNvPr id="3" name="Content Placeholder 2"/>
          <p:cNvSpPr>
            <a:spLocks noGrp="1"/>
          </p:cNvSpPr>
          <p:nvPr>
            <p:ph idx="1"/>
          </p:nvPr>
        </p:nvSpPr>
        <p:spPr>
          <a:xfrm>
            <a:off x="152400" y="1447800"/>
            <a:ext cx="8534400" cy="5105400"/>
          </a:xfrm>
        </p:spPr>
        <p:txBody>
          <a:bodyPr>
            <a:normAutofit/>
          </a:bodyPr>
          <a:lstStyle/>
          <a:p>
            <a:pPr marL="834390" lvl="1" indent="-514350">
              <a:buFont typeface="+mj-lt"/>
              <a:buAutoNum type="arabicPeriod"/>
            </a:pPr>
            <a:r>
              <a:rPr lang="en-US" sz="3200" dirty="0" smtClean="0">
                <a:solidFill>
                  <a:srgbClr val="002060"/>
                </a:solidFill>
              </a:rPr>
              <a:t>To </a:t>
            </a:r>
            <a:r>
              <a:rPr lang="en-US" sz="3200" dirty="0">
                <a:solidFill>
                  <a:srgbClr val="002060"/>
                </a:solidFill>
              </a:rPr>
              <a:t>improve quality of human condition.</a:t>
            </a:r>
          </a:p>
          <a:p>
            <a:pPr marL="834390" lvl="1" indent="-514350">
              <a:buFont typeface="+mj-lt"/>
              <a:buAutoNum type="arabicPeriod"/>
            </a:pPr>
            <a:r>
              <a:rPr lang="en-US" sz="3200" dirty="0" smtClean="0">
                <a:solidFill>
                  <a:srgbClr val="002060"/>
                </a:solidFill>
              </a:rPr>
              <a:t>To </a:t>
            </a:r>
            <a:r>
              <a:rPr lang="en-US" sz="3200" dirty="0">
                <a:solidFill>
                  <a:srgbClr val="002060"/>
                </a:solidFill>
              </a:rPr>
              <a:t>provide solution to our practical problems.</a:t>
            </a:r>
          </a:p>
          <a:p>
            <a:pPr marL="834390" lvl="1" indent="-514350">
              <a:buFont typeface="+mj-lt"/>
              <a:buAutoNum type="arabicPeriod"/>
            </a:pPr>
            <a:r>
              <a:rPr lang="en-US" sz="3200" dirty="0" smtClean="0">
                <a:solidFill>
                  <a:srgbClr val="002060"/>
                </a:solidFill>
              </a:rPr>
              <a:t>To </a:t>
            </a:r>
            <a:r>
              <a:rPr lang="en-US" sz="3200" dirty="0">
                <a:solidFill>
                  <a:srgbClr val="002060"/>
                </a:solidFill>
              </a:rPr>
              <a:t>establish relevant institutional linkages and essential mechanisms</a:t>
            </a:r>
          </a:p>
          <a:p>
            <a:pPr marL="834390" lvl="1" indent="-514350">
              <a:buFont typeface="+mj-lt"/>
              <a:buAutoNum type="arabicPeriod"/>
            </a:pPr>
            <a:r>
              <a:rPr lang="en-US" sz="3200" dirty="0" smtClean="0">
                <a:solidFill>
                  <a:srgbClr val="002060"/>
                </a:solidFill>
              </a:rPr>
              <a:t>To </a:t>
            </a:r>
            <a:r>
              <a:rPr lang="en-US" sz="3200" dirty="0">
                <a:solidFill>
                  <a:srgbClr val="002060"/>
                </a:solidFill>
              </a:rPr>
              <a:t>develop individual </a:t>
            </a:r>
            <a:r>
              <a:rPr lang="en-US" sz="3200" dirty="0" smtClean="0">
                <a:solidFill>
                  <a:srgbClr val="002060"/>
                </a:solidFill>
              </a:rPr>
              <a:t>knowledge.</a:t>
            </a:r>
          </a:p>
          <a:p>
            <a:pPr marL="834390" lvl="1" indent="-514350">
              <a:buFont typeface="+mj-lt"/>
              <a:buAutoNum type="arabicPeriod"/>
            </a:pPr>
            <a:r>
              <a:rPr lang="en-US" sz="3200" dirty="0" smtClean="0">
                <a:solidFill>
                  <a:srgbClr val="002060"/>
                </a:solidFill>
              </a:rPr>
              <a:t>To </a:t>
            </a:r>
            <a:r>
              <a:rPr lang="en-US" sz="3200" dirty="0">
                <a:solidFill>
                  <a:srgbClr val="002060"/>
                </a:solidFill>
              </a:rPr>
              <a:t>find order in the chaos of nature and deliver personal and social liberation</a:t>
            </a:r>
          </a:p>
        </p:txBody>
      </p:sp>
    </p:spTree>
    <p:extLst>
      <p:ext uri="{BB962C8B-B14F-4D97-AF65-F5344CB8AC3E}">
        <p14:creationId xmlns:p14="http://schemas.microsoft.com/office/powerpoint/2010/main" val="2365145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229600" cy="1154097"/>
          </a:xfrm>
        </p:spPr>
        <p:txBody>
          <a:bodyPr>
            <a:normAutofit fontScale="90000"/>
          </a:bodyPr>
          <a:lstStyle/>
          <a:p>
            <a:r>
              <a:rPr lang="en-US" b="1" dirty="0" smtClean="0">
                <a:solidFill>
                  <a:srgbClr val="002060"/>
                </a:solidFill>
              </a:rPr>
              <a:t>PURPOSE OF SCIENCE AND TECHNOLOGY</a:t>
            </a:r>
            <a:endParaRPr lang="en-US" b="1" dirty="0">
              <a:solidFill>
                <a:srgbClr val="002060"/>
              </a:solidFill>
            </a:endParaRPr>
          </a:p>
        </p:txBody>
      </p:sp>
      <p:sp>
        <p:nvSpPr>
          <p:cNvPr id="3" name="Content Placeholder 2"/>
          <p:cNvSpPr>
            <a:spLocks noGrp="1"/>
          </p:cNvSpPr>
          <p:nvPr>
            <p:ph idx="1"/>
          </p:nvPr>
        </p:nvSpPr>
        <p:spPr>
          <a:xfrm>
            <a:off x="152400" y="1447800"/>
            <a:ext cx="8534400" cy="5105400"/>
          </a:xfrm>
        </p:spPr>
        <p:txBody>
          <a:bodyPr>
            <a:normAutofit/>
          </a:bodyPr>
          <a:lstStyle/>
          <a:p>
            <a:pPr marL="834390" lvl="1" indent="-514350">
              <a:buFont typeface="+mj-lt"/>
              <a:buAutoNum type="arabicPeriod" startAt="6"/>
            </a:pPr>
            <a:r>
              <a:rPr lang="en-US" sz="3200" dirty="0" smtClean="0">
                <a:solidFill>
                  <a:srgbClr val="002060"/>
                </a:solidFill>
              </a:rPr>
              <a:t>To </a:t>
            </a:r>
            <a:r>
              <a:rPr lang="en-US" sz="3200" dirty="0">
                <a:solidFill>
                  <a:srgbClr val="002060"/>
                </a:solidFill>
              </a:rPr>
              <a:t>give an information and explanation of the natural world</a:t>
            </a:r>
          </a:p>
          <a:p>
            <a:pPr marL="834390" lvl="1" indent="-514350">
              <a:buFont typeface="+mj-lt"/>
              <a:buAutoNum type="arabicPeriod" startAt="6"/>
            </a:pPr>
            <a:r>
              <a:rPr lang="en-US" sz="3200" dirty="0" smtClean="0">
                <a:solidFill>
                  <a:srgbClr val="002060"/>
                </a:solidFill>
              </a:rPr>
              <a:t>To </a:t>
            </a:r>
            <a:r>
              <a:rPr lang="en-US" sz="3200" dirty="0">
                <a:solidFill>
                  <a:srgbClr val="002060"/>
                </a:solidFill>
              </a:rPr>
              <a:t>develop new areas of knowledge</a:t>
            </a:r>
          </a:p>
          <a:p>
            <a:pPr marL="834390" lvl="1" indent="-514350">
              <a:buFont typeface="+mj-lt"/>
              <a:buAutoNum type="arabicPeriod" startAt="6"/>
            </a:pPr>
            <a:r>
              <a:rPr lang="en-US" sz="3200" dirty="0" smtClean="0">
                <a:solidFill>
                  <a:srgbClr val="002060"/>
                </a:solidFill>
              </a:rPr>
              <a:t>To </a:t>
            </a:r>
            <a:r>
              <a:rPr lang="en-US" sz="3200" dirty="0">
                <a:solidFill>
                  <a:srgbClr val="002060"/>
                </a:solidFill>
              </a:rPr>
              <a:t>combat irrationality.  </a:t>
            </a:r>
          </a:p>
          <a:p>
            <a:pPr marL="834390" lvl="1" indent="-514350">
              <a:buFont typeface="+mj-lt"/>
              <a:buAutoNum type="arabicPeriod" startAt="6"/>
            </a:pPr>
            <a:r>
              <a:rPr lang="en-US" sz="3200" dirty="0" smtClean="0">
                <a:solidFill>
                  <a:srgbClr val="002060"/>
                </a:solidFill>
              </a:rPr>
              <a:t>To </a:t>
            </a:r>
            <a:r>
              <a:rPr lang="en-US" sz="3200" dirty="0">
                <a:solidFill>
                  <a:srgbClr val="002060"/>
                </a:solidFill>
              </a:rPr>
              <a:t>maintain the availability of natural resources</a:t>
            </a:r>
          </a:p>
        </p:txBody>
      </p:sp>
    </p:spTree>
    <p:extLst>
      <p:ext uri="{BB962C8B-B14F-4D97-AF65-F5344CB8AC3E}">
        <p14:creationId xmlns:p14="http://schemas.microsoft.com/office/powerpoint/2010/main" val="2401311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229600" cy="1154097"/>
          </a:xfrm>
        </p:spPr>
        <p:txBody>
          <a:bodyPr>
            <a:normAutofit fontScale="90000"/>
          </a:bodyPr>
          <a:lstStyle/>
          <a:p>
            <a:r>
              <a:rPr lang="en-US" b="1" dirty="0" smtClean="0">
                <a:solidFill>
                  <a:srgbClr val="002060"/>
                </a:solidFill>
              </a:rPr>
              <a:t>LIMITATIONS OF SCIENCE AND TECHNOLOGY</a:t>
            </a:r>
            <a:endParaRPr lang="en-US" b="1" dirty="0">
              <a:solidFill>
                <a:srgbClr val="002060"/>
              </a:solidFill>
            </a:endParaRPr>
          </a:p>
        </p:txBody>
      </p:sp>
      <p:sp>
        <p:nvSpPr>
          <p:cNvPr id="3" name="Content Placeholder 2"/>
          <p:cNvSpPr>
            <a:spLocks noGrp="1"/>
          </p:cNvSpPr>
          <p:nvPr>
            <p:ph idx="1"/>
          </p:nvPr>
        </p:nvSpPr>
        <p:spPr>
          <a:xfrm>
            <a:off x="152400" y="1447800"/>
            <a:ext cx="8534400" cy="5105400"/>
          </a:xfrm>
        </p:spPr>
        <p:txBody>
          <a:bodyPr>
            <a:normAutofit/>
          </a:bodyPr>
          <a:lstStyle/>
          <a:p>
            <a:pPr marL="834390" lvl="1" indent="-514350">
              <a:buFont typeface="+mj-lt"/>
              <a:buAutoNum type="arabicPeriod"/>
            </a:pPr>
            <a:r>
              <a:rPr lang="en-US" sz="3200" dirty="0" smtClean="0">
                <a:solidFill>
                  <a:srgbClr val="002060"/>
                </a:solidFill>
              </a:rPr>
              <a:t>Epistemological </a:t>
            </a:r>
            <a:r>
              <a:rPr lang="en-US" sz="3200" dirty="0">
                <a:solidFill>
                  <a:srgbClr val="002060"/>
                </a:solidFill>
              </a:rPr>
              <a:t>concerns.  It cannot help us with questions about the God, the ultimate Good, and Truth.  It cannot deny nor confirm the existence of God, soul, heaven and other uncertainties.</a:t>
            </a:r>
          </a:p>
          <a:p>
            <a:pPr marL="834390" lvl="1" indent="-514350">
              <a:buFont typeface="+mj-lt"/>
              <a:buAutoNum type="arabicPeriod"/>
            </a:pPr>
            <a:r>
              <a:rPr lang="en-US" sz="3200" dirty="0" smtClean="0">
                <a:solidFill>
                  <a:srgbClr val="002060"/>
                </a:solidFill>
              </a:rPr>
              <a:t>Metaphysical </a:t>
            </a:r>
            <a:r>
              <a:rPr lang="en-US" sz="3200" dirty="0">
                <a:solidFill>
                  <a:srgbClr val="002060"/>
                </a:solidFill>
              </a:rPr>
              <a:t>concerns. Immaterial and transcendental nature is beyond the grasp of scientific inquiry.  It cannot speak to issues of ultimate origin, meaning, or morality.</a:t>
            </a:r>
          </a:p>
        </p:txBody>
      </p:sp>
    </p:spTree>
    <p:extLst>
      <p:ext uri="{BB962C8B-B14F-4D97-AF65-F5344CB8AC3E}">
        <p14:creationId xmlns:p14="http://schemas.microsoft.com/office/powerpoint/2010/main" val="4197036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229600" cy="1154097"/>
          </a:xfrm>
        </p:spPr>
        <p:txBody>
          <a:bodyPr>
            <a:normAutofit fontScale="90000"/>
          </a:bodyPr>
          <a:lstStyle/>
          <a:p>
            <a:r>
              <a:rPr lang="en-US" b="1" dirty="0" smtClean="0">
                <a:solidFill>
                  <a:srgbClr val="002060"/>
                </a:solidFill>
              </a:rPr>
              <a:t>LIMITATIONS OF SCIENCE AND TECHNOLOGY</a:t>
            </a:r>
            <a:endParaRPr lang="en-US" b="1" dirty="0">
              <a:solidFill>
                <a:srgbClr val="002060"/>
              </a:solidFill>
            </a:endParaRPr>
          </a:p>
        </p:txBody>
      </p:sp>
      <p:sp>
        <p:nvSpPr>
          <p:cNvPr id="3" name="Content Placeholder 2"/>
          <p:cNvSpPr>
            <a:spLocks noGrp="1"/>
          </p:cNvSpPr>
          <p:nvPr>
            <p:ph idx="1"/>
          </p:nvPr>
        </p:nvSpPr>
        <p:spPr>
          <a:xfrm>
            <a:off x="152400" y="1447800"/>
            <a:ext cx="8534400" cy="5105400"/>
          </a:xfrm>
        </p:spPr>
        <p:txBody>
          <a:bodyPr>
            <a:normAutofit lnSpcReduction="10000"/>
          </a:bodyPr>
          <a:lstStyle/>
          <a:p>
            <a:pPr marL="834390" lvl="1" indent="-514350">
              <a:buFont typeface="+mj-lt"/>
              <a:buAutoNum type="arabicPeriod" startAt="3"/>
            </a:pPr>
            <a:r>
              <a:rPr lang="en-US" sz="3200" dirty="0" smtClean="0">
                <a:solidFill>
                  <a:srgbClr val="002060"/>
                </a:solidFill>
              </a:rPr>
              <a:t>Axiological </a:t>
            </a:r>
            <a:r>
              <a:rPr lang="en-US" sz="3200" dirty="0">
                <a:solidFill>
                  <a:srgbClr val="002060"/>
                </a:solidFill>
              </a:rPr>
              <a:t>concerns.  It cannot answer questions about value.</a:t>
            </a:r>
          </a:p>
          <a:p>
            <a:pPr marL="834390" lvl="1" indent="-514350">
              <a:buFont typeface="+mj-lt"/>
              <a:buAutoNum type="arabicPeriod" startAt="3"/>
            </a:pPr>
            <a:r>
              <a:rPr lang="en-US" sz="3200" dirty="0" smtClean="0">
                <a:solidFill>
                  <a:srgbClr val="002060"/>
                </a:solidFill>
              </a:rPr>
              <a:t>Dependent </a:t>
            </a:r>
            <a:r>
              <a:rPr lang="en-US" sz="3200" dirty="0">
                <a:solidFill>
                  <a:srgbClr val="002060"/>
                </a:solidFill>
              </a:rPr>
              <a:t>on the values and personal beliefs of those who use it.</a:t>
            </a:r>
          </a:p>
          <a:p>
            <a:pPr marL="834390" lvl="1" indent="-514350">
              <a:buFont typeface="+mj-lt"/>
              <a:buAutoNum type="arabicPeriod" startAt="3"/>
            </a:pPr>
            <a:r>
              <a:rPr lang="en-US" sz="3200" dirty="0" smtClean="0">
                <a:solidFill>
                  <a:srgbClr val="002060"/>
                </a:solidFill>
              </a:rPr>
              <a:t>Use </a:t>
            </a:r>
            <a:r>
              <a:rPr lang="en-US" sz="3200" dirty="0">
                <a:solidFill>
                  <a:srgbClr val="002060"/>
                </a:solidFill>
              </a:rPr>
              <a:t>of natural resources that are being used in science and technology are limited</a:t>
            </a:r>
          </a:p>
          <a:p>
            <a:pPr marL="834390" lvl="1" indent="-514350">
              <a:buFont typeface="+mj-lt"/>
              <a:buAutoNum type="arabicPeriod" startAt="3"/>
            </a:pPr>
            <a:r>
              <a:rPr lang="en-US" sz="3200" dirty="0" smtClean="0">
                <a:solidFill>
                  <a:srgbClr val="002060"/>
                </a:solidFill>
              </a:rPr>
              <a:t>Data </a:t>
            </a:r>
            <a:r>
              <a:rPr lang="en-US" sz="3200" dirty="0">
                <a:solidFill>
                  <a:srgbClr val="002060"/>
                </a:solidFill>
              </a:rPr>
              <a:t>is limited to the physically observable.</a:t>
            </a:r>
          </a:p>
          <a:p>
            <a:pPr marL="834390" lvl="1" indent="-514350">
              <a:buFont typeface="+mj-lt"/>
              <a:buAutoNum type="arabicPeriod" startAt="3"/>
            </a:pPr>
            <a:r>
              <a:rPr lang="en-US" sz="3200" dirty="0" smtClean="0">
                <a:solidFill>
                  <a:srgbClr val="002060"/>
                </a:solidFill>
              </a:rPr>
              <a:t>Ultimately </a:t>
            </a:r>
            <a:r>
              <a:rPr lang="en-US" sz="3200" dirty="0">
                <a:solidFill>
                  <a:srgbClr val="002060"/>
                </a:solidFill>
              </a:rPr>
              <a:t>rest on past observations</a:t>
            </a:r>
          </a:p>
        </p:txBody>
      </p:sp>
    </p:spTree>
    <p:extLst>
      <p:ext uri="{BB962C8B-B14F-4D97-AF65-F5344CB8AC3E}">
        <p14:creationId xmlns:p14="http://schemas.microsoft.com/office/powerpoint/2010/main" val="9761127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229600" cy="1154097"/>
          </a:xfrm>
        </p:spPr>
        <p:txBody>
          <a:bodyPr>
            <a:normAutofit fontScale="90000"/>
          </a:bodyPr>
          <a:lstStyle/>
          <a:p>
            <a:r>
              <a:rPr lang="en-US" b="1" dirty="0" smtClean="0">
                <a:solidFill>
                  <a:srgbClr val="002060"/>
                </a:solidFill>
              </a:rPr>
              <a:t>LIMITATIONS OF SCIENCE AND TECHNOLOGY</a:t>
            </a:r>
            <a:endParaRPr lang="en-US" b="1" dirty="0">
              <a:solidFill>
                <a:srgbClr val="002060"/>
              </a:solidFill>
            </a:endParaRPr>
          </a:p>
        </p:txBody>
      </p:sp>
      <p:sp>
        <p:nvSpPr>
          <p:cNvPr id="3" name="Content Placeholder 2"/>
          <p:cNvSpPr>
            <a:spLocks noGrp="1"/>
          </p:cNvSpPr>
          <p:nvPr>
            <p:ph idx="1"/>
          </p:nvPr>
        </p:nvSpPr>
        <p:spPr>
          <a:xfrm>
            <a:off x="152400" y="1447800"/>
            <a:ext cx="8534400" cy="5105400"/>
          </a:xfrm>
        </p:spPr>
        <p:txBody>
          <a:bodyPr>
            <a:normAutofit fontScale="92500" lnSpcReduction="10000"/>
          </a:bodyPr>
          <a:lstStyle/>
          <a:p>
            <a:pPr marL="834390" lvl="1" indent="-514350">
              <a:buFont typeface="+mj-lt"/>
              <a:buAutoNum type="arabicPeriod" startAt="8"/>
            </a:pPr>
            <a:r>
              <a:rPr lang="en-US" sz="3200" dirty="0" smtClean="0">
                <a:solidFill>
                  <a:srgbClr val="002060"/>
                </a:solidFill>
              </a:rPr>
              <a:t>Not </a:t>
            </a:r>
            <a:r>
              <a:rPr lang="en-US" sz="3200" dirty="0">
                <a:solidFill>
                  <a:srgbClr val="002060"/>
                </a:solidFill>
              </a:rPr>
              <a:t>all of its principles are applicable to different world phenomena.</a:t>
            </a:r>
          </a:p>
          <a:p>
            <a:pPr marL="834390" lvl="1" indent="-514350">
              <a:buFont typeface="+mj-lt"/>
              <a:buAutoNum type="arabicPeriod" startAt="8"/>
            </a:pPr>
            <a:r>
              <a:rPr lang="en-US" sz="3200" dirty="0" smtClean="0">
                <a:solidFill>
                  <a:srgbClr val="002060"/>
                </a:solidFill>
              </a:rPr>
              <a:t>Needs </a:t>
            </a:r>
            <a:r>
              <a:rPr lang="en-US" sz="3200" dirty="0">
                <a:solidFill>
                  <a:srgbClr val="002060"/>
                </a:solidFill>
              </a:rPr>
              <a:t>human intervention to carry out its functions properly</a:t>
            </a:r>
          </a:p>
          <a:p>
            <a:pPr marL="834390" lvl="1" indent="-514350">
              <a:buFont typeface="+mj-lt"/>
              <a:buAutoNum type="arabicPeriod" startAt="8"/>
            </a:pPr>
            <a:r>
              <a:rPr lang="en-US" sz="3200" dirty="0">
                <a:solidFill>
                  <a:srgbClr val="002060"/>
                </a:solidFill>
              </a:rPr>
              <a:t> </a:t>
            </a:r>
            <a:r>
              <a:rPr lang="en-US" sz="3200" dirty="0" smtClean="0">
                <a:solidFill>
                  <a:srgbClr val="002060"/>
                </a:solidFill>
              </a:rPr>
              <a:t>It </a:t>
            </a:r>
            <a:r>
              <a:rPr lang="en-US" sz="3200" dirty="0">
                <a:solidFill>
                  <a:srgbClr val="002060"/>
                </a:solidFill>
              </a:rPr>
              <a:t>can predict forces of nature but it cannot prevent the prevent the prevalence/occurrence</a:t>
            </a:r>
          </a:p>
          <a:p>
            <a:pPr marL="834390" lvl="1" indent="-514350">
              <a:buFont typeface="+mj-lt"/>
              <a:buAutoNum type="arabicPeriod" startAt="8"/>
            </a:pPr>
            <a:r>
              <a:rPr lang="en-US" sz="3200" dirty="0">
                <a:solidFill>
                  <a:srgbClr val="002060"/>
                </a:solidFill>
              </a:rPr>
              <a:t> </a:t>
            </a:r>
            <a:r>
              <a:rPr lang="en-US" sz="3200" dirty="0" smtClean="0">
                <a:solidFill>
                  <a:srgbClr val="002060"/>
                </a:solidFill>
              </a:rPr>
              <a:t>Can </a:t>
            </a:r>
            <a:r>
              <a:rPr lang="en-US" sz="3200" dirty="0">
                <a:solidFill>
                  <a:srgbClr val="002060"/>
                </a:solidFill>
              </a:rPr>
              <a:t>not guarantee an ultimate solution to any specific problem.</a:t>
            </a:r>
          </a:p>
          <a:p>
            <a:pPr marL="834390" lvl="1" indent="-514350">
              <a:buFont typeface="+mj-lt"/>
              <a:buAutoNum type="arabicPeriod" startAt="8"/>
            </a:pPr>
            <a:r>
              <a:rPr lang="en-US" sz="3200" dirty="0">
                <a:solidFill>
                  <a:srgbClr val="002060"/>
                </a:solidFill>
              </a:rPr>
              <a:t> </a:t>
            </a:r>
            <a:r>
              <a:rPr lang="en-US" sz="3200" dirty="0" smtClean="0">
                <a:solidFill>
                  <a:srgbClr val="002060"/>
                </a:solidFill>
              </a:rPr>
              <a:t>Can </a:t>
            </a:r>
            <a:r>
              <a:rPr lang="en-US" sz="3200" dirty="0">
                <a:solidFill>
                  <a:srgbClr val="002060"/>
                </a:solidFill>
              </a:rPr>
              <a:t>not fully explain what is in the mind of a person.</a:t>
            </a:r>
          </a:p>
        </p:txBody>
      </p:sp>
    </p:spTree>
    <p:extLst>
      <p:ext uri="{BB962C8B-B14F-4D97-AF65-F5344CB8AC3E}">
        <p14:creationId xmlns:p14="http://schemas.microsoft.com/office/powerpoint/2010/main" val="1911678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229600" cy="1154097"/>
          </a:xfrm>
        </p:spPr>
        <p:txBody>
          <a:bodyPr>
            <a:normAutofit/>
          </a:bodyPr>
          <a:lstStyle/>
          <a:p>
            <a:r>
              <a:rPr lang="en-US" b="1" dirty="0" smtClean="0">
                <a:solidFill>
                  <a:srgbClr val="002060"/>
                </a:solidFill>
              </a:rPr>
              <a:t>TECHNOLOGY</a:t>
            </a:r>
            <a:endParaRPr lang="en-US" b="1" dirty="0">
              <a:solidFill>
                <a:srgbClr val="002060"/>
              </a:solidFill>
            </a:endParaRPr>
          </a:p>
        </p:txBody>
      </p:sp>
      <p:sp>
        <p:nvSpPr>
          <p:cNvPr id="3" name="Content Placeholder 2"/>
          <p:cNvSpPr>
            <a:spLocks noGrp="1"/>
          </p:cNvSpPr>
          <p:nvPr>
            <p:ph idx="1"/>
          </p:nvPr>
        </p:nvSpPr>
        <p:spPr>
          <a:xfrm>
            <a:off x="152400" y="1447800"/>
            <a:ext cx="8534400" cy="5105400"/>
          </a:xfrm>
        </p:spPr>
        <p:txBody>
          <a:bodyPr>
            <a:normAutofit/>
          </a:bodyPr>
          <a:lstStyle/>
          <a:p>
            <a:pPr lvl="1"/>
            <a:r>
              <a:rPr lang="en-US" sz="3200" dirty="0">
                <a:solidFill>
                  <a:srgbClr val="002060"/>
                </a:solidFill>
              </a:rPr>
              <a:t>Technological leadership is vital to the national interest of any developing and developed nation.  </a:t>
            </a:r>
            <a:endParaRPr lang="en-US" sz="3200" dirty="0" smtClean="0">
              <a:solidFill>
                <a:srgbClr val="002060"/>
              </a:solidFill>
            </a:endParaRPr>
          </a:p>
          <a:p>
            <a:pPr lvl="1"/>
            <a:r>
              <a:rPr lang="en-US" sz="3200" dirty="0" smtClean="0">
                <a:solidFill>
                  <a:srgbClr val="002060"/>
                </a:solidFill>
              </a:rPr>
              <a:t>As </a:t>
            </a:r>
            <a:r>
              <a:rPr lang="en-US" sz="3200" dirty="0">
                <a:solidFill>
                  <a:srgbClr val="002060"/>
                </a:solidFill>
              </a:rPr>
              <a:t>we enter the twenty-first century, humans ability to harness the power and promise of leading-edge advances in technology will determine, in large measure, national prosperity, security, and global influence, and with them the standard of living and quality of life.</a:t>
            </a:r>
          </a:p>
          <a:p>
            <a:pPr lvl="1"/>
            <a:endParaRPr lang="en-US" sz="3200" dirty="0">
              <a:solidFill>
                <a:srgbClr val="002060"/>
              </a:solidFill>
            </a:endParaRPr>
          </a:p>
        </p:txBody>
      </p:sp>
    </p:spTree>
    <p:extLst>
      <p:ext uri="{BB962C8B-B14F-4D97-AF65-F5344CB8AC3E}">
        <p14:creationId xmlns:p14="http://schemas.microsoft.com/office/powerpoint/2010/main" val="2298579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229600" cy="1154097"/>
          </a:xfrm>
        </p:spPr>
        <p:txBody>
          <a:bodyPr>
            <a:normAutofit/>
          </a:bodyPr>
          <a:lstStyle/>
          <a:p>
            <a:r>
              <a:rPr lang="en-US" b="1" dirty="0" smtClean="0">
                <a:solidFill>
                  <a:srgbClr val="002060"/>
                </a:solidFill>
              </a:rPr>
              <a:t>TECHNOLOGY</a:t>
            </a:r>
            <a:endParaRPr lang="en-US" b="1" dirty="0">
              <a:solidFill>
                <a:srgbClr val="002060"/>
              </a:solidFill>
            </a:endParaRPr>
          </a:p>
        </p:txBody>
      </p:sp>
      <p:sp>
        <p:nvSpPr>
          <p:cNvPr id="3" name="Content Placeholder 2"/>
          <p:cNvSpPr>
            <a:spLocks noGrp="1"/>
          </p:cNvSpPr>
          <p:nvPr>
            <p:ph idx="1"/>
          </p:nvPr>
        </p:nvSpPr>
        <p:spPr>
          <a:xfrm>
            <a:off x="152400" y="2362200"/>
            <a:ext cx="8534400" cy="4191000"/>
          </a:xfrm>
        </p:spPr>
        <p:txBody>
          <a:bodyPr>
            <a:normAutofit/>
          </a:bodyPr>
          <a:lstStyle/>
          <a:p>
            <a:pPr lvl="0"/>
            <a:r>
              <a:rPr lang="en-US" sz="3200" dirty="0">
                <a:solidFill>
                  <a:srgbClr val="002060"/>
                </a:solidFill>
              </a:rPr>
              <a:t>research and development</a:t>
            </a:r>
          </a:p>
          <a:p>
            <a:pPr lvl="0"/>
            <a:r>
              <a:rPr lang="en-US" sz="3200" dirty="0">
                <a:solidFill>
                  <a:srgbClr val="002060"/>
                </a:solidFill>
              </a:rPr>
              <a:t>cadre of scientists and engineers</a:t>
            </a:r>
          </a:p>
          <a:p>
            <a:pPr lvl="0"/>
            <a:r>
              <a:rPr lang="en-US" sz="3200" dirty="0">
                <a:solidFill>
                  <a:srgbClr val="002060"/>
                </a:solidFill>
              </a:rPr>
              <a:t>diverse manufacturing base</a:t>
            </a:r>
          </a:p>
          <a:p>
            <a:pPr lvl="0"/>
            <a:r>
              <a:rPr lang="en-US" sz="3200" dirty="0">
                <a:solidFill>
                  <a:srgbClr val="002060"/>
                </a:solidFill>
              </a:rPr>
              <a:t>productive workforce</a:t>
            </a:r>
          </a:p>
          <a:p>
            <a:pPr lvl="0"/>
            <a:r>
              <a:rPr lang="en-US" sz="3200" dirty="0">
                <a:solidFill>
                  <a:srgbClr val="002060"/>
                </a:solidFill>
              </a:rPr>
              <a:t>broad and sophisticated service sector</a:t>
            </a:r>
          </a:p>
          <a:p>
            <a:pPr lvl="0"/>
            <a:r>
              <a:rPr lang="en-US" sz="3200" dirty="0">
                <a:solidFill>
                  <a:srgbClr val="002060"/>
                </a:solidFill>
              </a:rPr>
              <a:t>climate and culture that encourage competition, risk taking and entrepreneurship</a:t>
            </a:r>
          </a:p>
        </p:txBody>
      </p:sp>
      <p:sp>
        <p:nvSpPr>
          <p:cNvPr id="4" name="Title 1"/>
          <p:cNvSpPr txBox="1">
            <a:spLocks/>
          </p:cNvSpPr>
          <p:nvPr/>
        </p:nvSpPr>
        <p:spPr>
          <a:xfrm>
            <a:off x="324293" y="1306498"/>
            <a:ext cx="8229600" cy="577048"/>
          </a:xfrm>
          <a:prstGeom prst="rect">
            <a:avLst/>
          </a:prstGeom>
        </p:spPr>
        <p:txBody>
          <a:bodyPr vert="horz" lIns="91440" tIns="45720" rIns="91440" bIns="45720" rtlCol="0" anchor="b">
            <a:normAutofit fontScale="77500" lnSpcReduction="20000"/>
          </a:bodyPr>
          <a:lstStyle>
            <a:lvl1pPr algn="l" defTabSz="914400" rtl="0" eaLnBrk="1" latinLnBrk="0" hangingPunct="1">
              <a:spcBef>
                <a:spcPct val="0"/>
              </a:spcBef>
              <a:buNone/>
              <a:defRPr sz="4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Requirements for technological innovations</a:t>
            </a:r>
          </a:p>
        </p:txBody>
      </p:sp>
    </p:spTree>
    <p:extLst>
      <p:ext uri="{BB962C8B-B14F-4D97-AF65-F5344CB8AC3E}">
        <p14:creationId xmlns:p14="http://schemas.microsoft.com/office/powerpoint/2010/main" val="36558812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229600" cy="1154097"/>
          </a:xfrm>
        </p:spPr>
        <p:txBody>
          <a:bodyPr>
            <a:normAutofit/>
          </a:bodyPr>
          <a:lstStyle/>
          <a:p>
            <a:r>
              <a:rPr lang="en-US" b="1" dirty="0" smtClean="0">
                <a:solidFill>
                  <a:srgbClr val="002060"/>
                </a:solidFill>
              </a:rPr>
              <a:t>TECHNOLOGY</a:t>
            </a:r>
            <a:endParaRPr lang="en-US" b="1" dirty="0">
              <a:solidFill>
                <a:srgbClr val="002060"/>
              </a:solidFill>
            </a:endParaRPr>
          </a:p>
        </p:txBody>
      </p:sp>
      <p:sp>
        <p:nvSpPr>
          <p:cNvPr id="3" name="Content Placeholder 2"/>
          <p:cNvSpPr>
            <a:spLocks noGrp="1"/>
          </p:cNvSpPr>
          <p:nvPr>
            <p:ph idx="1"/>
          </p:nvPr>
        </p:nvSpPr>
        <p:spPr>
          <a:xfrm>
            <a:off x="152400" y="2362200"/>
            <a:ext cx="8534400" cy="4191000"/>
          </a:xfrm>
        </p:spPr>
        <p:txBody>
          <a:bodyPr>
            <a:normAutofit/>
          </a:bodyPr>
          <a:lstStyle/>
          <a:p>
            <a:endParaRPr lang="en-US" sz="3600" dirty="0">
              <a:solidFill>
                <a:srgbClr val="002060"/>
              </a:solidFill>
            </a:endParaRPr>
          </a:p>
          <a:p>
            <a:pPr lvl="1"/>
            <a:r>
              <a:rPr lang="en-US" sz="3200" dirty="0">
                <a:solidFill>
                  <a:srgbClr val="002060"/>
                </a:solidFill>
              </a:rPr>
              <a:t>Technology is the single most important determining factor in sustained economic growth, estimated to account for as much as half a nation’s growth over the past 50 years.</a:t>
            </a:r>
          </a:p>
        </p:txBody>
      </p:sp>
      <p:sp>
        <p:nvSpPr>
          <p:cNvPr id="4" name="Title 1"/>
          <p:cNvSpPr txBox="1">
            <a:spLocks/>
          </p:cNvSpPr>
          <p:nvPr/>
        </p:nvSpPr>
        <p:spPr>
          <a:xfrm>
            <a:off x="324293" y="1306498"/>
            <a:ext cx="8229600" cy="577048"/>
          </a:xfrm>
          <a:prstGeom prst="rect">
            <a:avLst/>
          </a:prstGeom>
        </p:spPr>
        <p:txBody>
          <a:bodyPr vert="horz" lIns="91440" tIns="45720" rIns="91440" bIns="45720" rtlCol="0" anchor="b">
            <a:normAutofit fontScale="92500" lnSpcReduction="20000"/>
          </a:bodyPr>
          <a:lstStyle>
            <a:lvl1pPr algn="l" defTabSz="914400" rtl="0" eaLnBrk="1" latinLnBrk="0" hangingPunct="1">
              <a:spcBef>
                <a:spcPct val="0"/>
              </a:spcBef>
              <a:buNone/>
              <a:defRPr sz="4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Technology and Economy</a:t>
            </a:r>
          </a:p>
        </p:txBody>
      </p:sp>
    </p:spTree>
    <p:extLst>
      <p:ext uri="{BB962C8B-B14F-4D97-AF65-F5344CB8AC3E}">
        <p14:creationId xmlns:p14="http://schemas.microsoft.com/office/powerpoint/2010/main" val="28726999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229600" cy="1154097"/>
          </a:xfrm>
        </p:spPr>
        <p:txBody>
          <a:bodyPr>
            <a:normAutofit/>
          </a:bodyPr>
          <a:lstStyle/>
          <a:p>
            <a:r>
              <a:rPr lang="en-US" b="1" dirty="0" smtClean="0">
                <a:solidFill>
                  <a:srgbClr val="002060"/>
                </a:solidFill>
              </a:rPr>
              <a:t>TECHNOLOGY</a:t>
            </a:r>
            <a:endParaRPr lang="en-US" b="1" dirty="0">
              <a:solidFill>
                <a:srgbClr val="002060"/>
              </a:solidFill>
            </a:endParaRPr>
          </a:p>
        </p:txBody>
      </p:sp>
      <p:sp>
        <p:nvSpPr>
          <p:cNvPr id="3" name="Content Placeholder 2"/>
          <p:cNvSpPr>
            <a:spLocks noGrp="1"/>
          </p:cNvSpPr>
          <p:nvPr>
            <p:ph idx="1"/>
          </p:nvPr>
        </p:nvSpPr>
        <p:spPr>
          <a:xfrm>
            <a:off x="152400" y="2362200"/>
            <a:ext cx="8534400" cy="4191000"/>
          </a:xfrm>
        </p:spPr>
        <p:txBody>
          <a:bodyPr>
            <a:normAutofit fontScale="85000" lnSpcReduction="10000"/>
          </a:bodyPr>
          <a:lstStyle/>
          <a:p>
            <a:endParaRPr lang="en-US" sz="3600" dirty="0">
              <a:solidFill>
                <a:srgbClr val="002060"/>
              </a:solidFill>
            </a:endParaRPr>
          </a:p>
          <a:p>
            <a:r>
              <a:rPr lang="en-US" sz="3600" dirty="0">
                <a:solidFill>
                  <a:srgbClr val="002060"/>
                </a:solidFill>
              </a:rPr>
              <a:t>Technology is transforming the very basis of competition-enabling small businesses to perform high-quality design and manufacturing work that previously required the resources of big business, while allowing big businesses to achieve the speed, flexibility, and proximity to customers that were once the sole domain of smaller firms.</a:t>
            </a:r>
          </a:p>
        </p:txBody>
      </p:sp>
      <p:sp>
        <p:nvSpPr>
          <p:cNvPr id="4" name="Title 1"/>
          <p:cNvSpPr txBox="1">
            <a:spLocks/>
          </p:cNvSpPr>
          <p:nvPr/>
        </p:nvSpPr>
        <p:spPr>
          <a:xfrm>
            <a:off x="324293" y="1306498"/>
            <a:ext cx="8229600" cy="577048"/>
          </a:xfrm>
          <a:prstGeom prst="rect">
            <a:avLst/>
          </a:prstGeom>
        </p:spPr>
        <p:txBody>
          <a:bodyPr vert="horz" lIns="91440" tIns="45720" rIns="91440" bIns="45720" rtlCol="0" anchor="b">
            <a:normAutofit fontScale="92500" lnSpcReduction="20000"/>
          </a:bodyPr>
          <a:lstStyle>
            <a:lvl1pPr algn="l" defTabSz="914400" rtl="0" eaLnBrk="1" latinLnBrk="0" hangingPunct="1">
              <a:spcBef>
                <a:spcPct val="0"/>
              </a:spcBef>
              <a:buNone/>
              <a:defRPr sz="4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Technology and Economy</a:t>
            </a:r>
          </a:p>
        </p:txBody>
      </p:sp>
    </p:spTree>
    <p:extLst>
      <p:ext uri="{BB962C8B-B14F-4D97-AF65-F5344CB8AC3E}">
        <p14:creationId xmlns:p14="http://schemas.microsoft.com/office/powerpoint/2010/main" val="2952175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229600" cy="1154097"/>
          </a:xfrm>
        </p:spPr>
        <p:txBody>
          <a:bodyPr>
            <a:normAutofit/>
          </a:bodyPr>
          <a:lstStyle/>
          <a:p>
            <a:r>
              <a:rPr lang="en-US" b="1" dirty="0" smtClean="0">
                <a:solidFill>
                  <a:srgbClr val="002060"/>
                </a:solidFill>
              </a:rPr>
              <a:t>TECHNOLOGY</a:t>
            </a:r>
            <a:endParaRPr lang="en-US" b="1" dirty="0">
              <a:solidFill>
                <a:srgbClr val="002060"/>
              </a:solidFill>
            </a:endParaRPr>
          </a:p>
        </p:txBody>
      </p:sp>
      <p:sp>
        <p:nvSpPr>
          <p:cNvPr id="3" name="Content Placeholder 2"/>
          <p:cNvSpPr>
            <a:spLocks noGrp="1"/>
          </p:cNvSpPr>
          <p:nvPr>
            <p:ph idx="1"/>
          </p:nvPr>
        </p:nvSpPr>
        <p:spPr>
          <a:xfrm>
            <a:off x="152400" y="2362200"/>
            <a:ext cx="8534400" cy="4191000"/>
          </a:xfrm>
        </p:spPr>
        <p:txBody>
          <a:bodyPr>
            <a:normAutofit/>
          </a:bodyPr>
          <a:lstStyle/>
          <a:p>
            <a:r>
              <a:rPr lang="en-US" sz="3600" dirty="0" smtClean="0">
                <a:solidFill>
                  <a:srgbClr val="002060"/>
                </a:solidFill>
              </a:rPr>
              <a:t>Technology </a:t>
            </a:r>
            <a:r>
              <a:rPr lang="en-US" sz="3600" dirty="0">
                <a:solidFill>
                  <a:srgbClr val="002060"/>
                </a:solidFill>
              </a:rPr>
              <a:t>provides the tools for creating a spectacular array of new products and new services.</a:t>
            </a:r>
          </a:p>
        </p:txBody>
      </p:sp>
      <p:sp>
        <p:nvSpPr>
          <p:cNvPr id="4" name="Title 1"/>
          <p:cNvSpPr txBox="1">
            <a:spLocks/>
          </p:cNvSpPr>
          <p:nvPr/>
        </p:nvSpPr>
        <p:spPr>
          <a:xfrm>
            <a:off x="324293" y="1306498"/>
            <a:ext cx="8229600" cy="577048"/>
          </a:xfrm>
          <a:prstGeom prst="rect">
            <a:avLst/>
          </a:prstGeom>
        </p:spPr>
        <p:txBody>
          <a:bodyPr vert="horz" lIns="91440" tIns="45720" rIns="91440" bIns="45720" rtlCol="0" anchor="b">
            <a:normAutofit fontScale="92500" lnSpcReduction="20000"/>
          </a:bodyPr>
          <a:lstStyle>
            <a:lvl1pPr algn="l" defTabSz="914400" rtl="0" eaLnBrk="1" latinLnBrk="0" hangingPunct="1">
              <a:spcBef>
                <a:spcPct val="0"/>
              </a:spcBef>
              <a:buNone/>
              <a:defRPr sz="4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Technology and Economy</a:t>
            </a:r>
          </a:p>
        </p:txBody>
      </p:sp>
    </p:spTree>
    <p:extLst>
      <p:ext uri="{BB962C8B-B14F-4D97-AF65-F5344CB8AC3E}">
        <p14:creationId xmlns:p14="http://schemas.microsoft.com/office/powerpoint/2010/main" val="11165118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229600" cy="1154097"/>
          </a:xfrm>
        </p:spPr>
        <p:txBody>
          <a:bodyPr>
            <a:normAutofit fontScale="90000"/>
          </a:bodyPr>
          <a:lstStyle/>
          <a:p>
            <a:r>
              <a:rPr lang="en-US" b="1" dirty="0" smtClean="0">
                <a:solidFill>
                  <a:srgbClr val="002060"/>
                </a:solidFill>
              </a:rPr>
              <a:t>TECHNOLOGY and the Quality of LIFE</a:t>
            </a:r>
            <a:endParaRPr lang="en-US" b="1" dirty="0">
              <a:solidFill>
                <a:srgbClr val="002060"/>
              </a:solidFill>
            </a:endParaRPr>
          </a:p>
        </p:txBody>
      </p:sp>
      <p:sp>
        <p:nvSpPr>
          <p:cNvPr id="3" name="Content Placeholder 2"/>
          <p:cNvSpPr>
            <a:spLocks noGrp="1"/>
          </p:cNvSpPr>
          <p:nvPr>
            <p:ph idx="1"/>
          </p:nvPr>
        </p:nvSpPr>
        <p:spPr>
          <a:xfrm>
            <a:off x="152400" y="2362200"/>
            <a:ext cx="8534400" cy="4191000"/>
          </a:xfrm>
        </p:spPr>
        <p:txBody>
          <a:bodyPr>
            <a:normAutofit fontScale="77500" lnSpcReduction="20000"/>
          </a:bodyPr>
          <a:lstStyle/>
          <a:p>
            <a:pPr marL="788670" indent="-742950">
              <a:buFont typeface="+mj-lt"/>
              <a:buAutoNum type="arabicPeriod"/>
            </a:pPr>
            <a:r>
              <a:rPr lang="en-US" sz="3600" dirty="0" smtClean="0">
                <a:solidFill>
                  <a:srgbClr val="002060"/>
                </a:solidFill>
              </a:rPr>
              <a:t>Medical </a:t>
            </a:r>
            <a:r>
              <a:rPr lang="en-US" sz="3600" dirty="0">
                <a:solidFill>
                  <a:srgbClr val="002060"/>
                </a:solidFill>
              </a:rPr>
              <a:t>research in pharmaceuticals, biotechnology, and medical devices helps us lead healthier lives and offers new hope for the </a:t>
            </a:r>
            <a:r>
              <a:rPr lang="en-US" sz="3600" dirty="0" smtClean="0">
                <a:solidFill>
                  <a:srgbClr val="002060"/>
                </a:solidFill>
              </a:rPr>
              <a:t>sick.</a:t>
            </a:r>
          </a:p>
          <a:p>
            <a:pPr marL="788670" indent="-742950">
              <a:buFont typeface="+mj-lt"/>
              <a:buAutoNum type="arabicPeriod"/>
            </a:pPr>
            <a:r>
              <a:rPr lang="en-US" sz="3600" dirty="0" smtClean="0">
                <a:solidFill>
                  <a:srgbClr val="002060"/>
                </a:solidFill>
              </a:rPr>
              <a:t>Environmental </a:t>
            </a:r>
            <a:r>
              <a:rPr lang="en-US" sz="3600" dirty="0">
                <a:solidFill>
                  <a:srgbClr val="002060"/>
                </a:solidFill>
              </a:rPr>
              <a:t>research brings better monitoring, prevention, and remediation </a:t>
            </a:r>
            <a:r>
              <a:rPr lang="en-US" sz="3600" dirty="0" smtClean="0">
                <a:solidFill>
                  <a:srgbClr val="002060"/>
                </a:solidFill>
              </a:rPr>
              <a:t>technologies.</a:t>
            </a:r>
          </a:p>
          <a:p>
            <a:pPr marL="788670" indent="-742950">
              <a:buFont typeface="+mj-lt"/>
              <a:buAutoNum type="arabicPeriod"/>
            </a:pPr>
            <a:r>
              <a:rPr lang="en-US" sz="3600" dirty="0" smtClean="0">
                <a:solidFill>
                  <a:srgbClr val="002060"/>
                </a:solidFill>
              </a:rPr>
              <a:t>Advanced </a:t>
            </a:r>
            <a:r>
              <a:rPr lang="en-US" sz="3600" dirty="0">
                <a:solidFill>
                  <a:srgbClr val="002060"/>
                </a:solidFill>
              </a:rPr>
              <a:t>monitoring and forecasting technologies – from satellites to simulation – are helping to save lives and minimize property damage by severe weather.</a:t>
            </a:r>
          </a:p>
        </p:txBody>
      </p:sp>
      <p:sp>
        <p:nvSpPr>
          <p:cNvPr id="4" name="Title 1"/>
          <p:cNvSpPr txBox="1">
            <a:spLocks/>
          </p:cNvSpPr>
          <p:nvPr/>
        </p:nvSpPr>
        <p:spPr>
          <a:xfrm>
            <a:off x="324293" y="1339979"/>
            <a:ext cx="8229600" cy="577048"/>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t>New technologies are improving the quality of life.  These are seen in:</a:t>
            </a:r>
            <a:endParaRPr lang="en-US" sz="2400" dirty="0"/>
          </a:p>
        </p:txBody>
      </p:sp>
    </p:spTree>
    <p:extLst>
      <p:ext uri="{BB962C8B-B14F-4D97-AF65-F5344CB8AC3E}">
        <p14:creationId xmlns:p14="http://schemas.microsoft.com/office/powerpoint/2010/main" val="18012846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229600" cy="1154097"/>
          </a:xfrm>
        </p:spPr>
        <p:txBody>
          <a:bodyPr>
            <a:normAutofit fontScale="90000"/>
          </a:bodyPr>
          <a:lstStyle/>
          <a:p>
            <a:r>
              <a:rPr lang="en-US" b="1" dirty="0" smtClean="0">
                <a:solidFill>
                  <a:srgbClr val="002060"/>
                </a:solidFill>
              </a:rPr>
              <a:t>TECHNOLOGY and the Quality of LIFE</a:t>
            </a:r>
            <a:endParaRPr lang="en-US" b="1" dirty="0">
              <a:solidFill>
                <a:srgbClr val="002060"/>
              </a:solidFill>
            </a:endParaRPr>
          </a:p>
        </p:txBody>
      </p:sp>
      <p:sp>
        <p:nvSpPr>
          <p:cNvPr id="3" name="Content Placeholder 2"/>
          <p:cNvSpPr>
            <a:spLocks noGrp="1"/>
          </p:cNvSpPr>
          <p:nvPr>
            <p:ph idx="1"/>
          </p:nvPr>
        </p:nvSpPr>
        <p:spPr>
          <a:xfrm>
            <a:off x="152400" y="2362200"/>
            <a:ext cx="8534400" cy="4191000"/>
          </a:xfrm>
        </p:spPr>
        <p:txBody>
          <a:bodyPr>
            <a:normAutofit fontScale="77500" lnSpcReduction="20000"/>
          </a:bodyPr>
          <a:lstStyle/>
          <a:p>
            <a:pPr marL="788670" indent="-742950">
              <a:buFont typeface="+mj-lt"/>
              <a:buAutoNum type="arabicPeriod" startAt="4"/>
            </a:pPr>
            <a:r>
              <a:rPr lang="en-US" sz="3600" dirty="0" smtClean="0">
                <a:solidFill>
                  <a:srgbClr val="002060"/>
                </a:solidFill>
              </a:rPr>
              <a:t>Sophisticated </a:t>
            </a:r>
            <a:r>
              <a:rPr lang="en-US" sz="3600" dirty="0">
                <a:solidFill>
                  <a:srgbClr val="002060"/>
                </a:solidFill>
              </a:rPr>
              <a:t>traffic management systems for land, sea, and air transportation enable the smooth and timely movement of more people and goods.</a:t>
            </a:r>
          </a:p>
          <a:p>
            <a:pPr marL="788670" indent="-742950">
              <a:buFont typeface="+mj-lt"/>
              <a:buAutoNum type="arabicPeriod" startAt="4"/>
            </a:pPr>
            <a:r>
              <a:rPr lang="en-US" sz="3600" dirty="0" smtClean="0">
                <a:solidFill>
                  <a:srgbClr val="002060"/>
                </a:solidFill>
              </a:rPr>
              <a:t>Agricultural </a:t>
            </a:r>
            <a:r>
              <a:rPr lang="en-US" sz="3600" dirty="0">
                <a:solidFill>
                  <a:srgbClr val="002060"/>
                </a:solidFill>
              </a:rPr>
              <a:t>research is producing safer, healthier, and tastier food products.</a:t>
            </a:r>
          </a:p>
          <a:p>
            <a:pPr marL="788670" indent="-742950">
              <a:buFont typeface="+mj-lt"/>
              <a:buAutoNum type="arabicPeriod" startAt="4"/>
            </a:pPr>
            <a:r>
              <a:rPr lang="en-US" sz="3600" dirty="0" smtClean="0">
                <a:solidFill>
                  <a:srgbClr val="002060"/>
                </a:solidFill>
              </a:rPr>
              <a:t>Automobile </a:t>
            </a:r>
            <a:r>
              <a:rPr lang="en-US" sz="3600" dirty="0">
                <a:solidFill>
                  <a:srgbClr val="002060"/>
                </a:solidFill>
              </a:rPr>
              <a:t>research is providing safer, cleaner, energy efficient, and more intelligent vehicles</a:t>
            </a:r>
            <a:r>
              <a:rPr lang="en-US" sz="3600" dirty="0" smtClean="0">
                <a:solidFill>
                  <a:srgbClr val="002060"/>
                </a:solidFill>
              </a:rPr>
              <a:t>.</a:t>
            </a:r>
          </a:p>
          <a:p>
            <a:pPr marL="788670" indent="-742950">
              <a:buFont typeface="+mj-lt"/>
              <a:buAutoNum type="arabicPeriod" startAt="4"/>
            </a:pPr>
            <a:r>
              <a:rPr lang="en-US" sz="3600" dirty="0" smtClean="0">
                <a:solidFill>
                  <a:srgbClr val="002060"/>
                </a:solidFill>
              </a:rPr>
              <a:t>Aeronautical </a:t>
            </a:r>
            <a:r>
              <a:rPr lang="en-US" sz="3600" dirty="0">
                <a:solidFill>
                  <a:srgbClr val="002060"/>
                </a:solidFill>
              </a:rPr>
              <a:t>technology is making air travel safer, less costly, and more environmentally compatible.</a:t>
            </a:r>
          </a:p>
        </p:txBody>
      </p:sp>
      <p:sp>
        <p:nvSpPr>
          <p:cNvPr id="4" name="Title 1"/>
          <p:cNvSpPr txBox="1">
            <a:spLocks/>
          </p:cNvSpPr>
          <p:nvPr/>
        </p:nvSpPr>
        <p:spPr>
          <a:xfrm>
            <a:off x="324293" y="1339979"/>
            <a:ext cx="8229600" cy="577048"/>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t>New technologies are improving the quality of life.  These are seen in:</a:t>
            </a:r>
            <a:endParaRPr lang="en-US" sz="2400" dirty="0"/>
          </a:p>
        </p:txBody>
      </p:sp>
    </p:spTree>
    <p:extLst>
      <p:ext uri="{BB962C8B-B14F-4D97-AF65-F5344CB8AC3E}">
        <p14:creationId xmlns:p14="http://schemas.microsoft.com/office/powerpoint/2010/main" val="30929220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229600" cy="1154097"/>
          </a:xfrm>
        </p:spPr>
        <p:txBody>
          <a:bodyPr>
            <a:normAutofit fontScale="90000"/>
          </a:bodyPr>
          <a:lstStyle/>
          <a:p>
            <a:r>
              <a:rPr lang="en-US" b="1" dirty="0" smtClean="0">
                <a:solidFill>
                  <a:srgbClr val="002060"/>
                </a:solidFill>
              </a:rPr>
              <a:t>TECHNOLOGY and the Quality of LIFE</a:t>
            </a:r>
            <a:endParaRPr lang="en-US" b="1" dirty="0">
              <a:solidFill>
                <a:srgbClr val="002060"/>
              </a:solidFill>
            </a:endParaRPr>
          </a:p>
        </p:txBody>
      </p:sp>
      <p:sp>
        <p:nvSpPr>
          <p:cNvPr id="3" name="Content Placeholder 2"/>
          <p:cNvSpPr>
            <a:spLocks noGrp="1"/>
          </p:cNvSpPr>
          <p:nvPr>
            <p:ph idx="1"/>
          </p:nvPr>
        </p:nvSpPr>
        <p:spPr>
          <a:xfrm>
            <a:off x="152400" y="2362200"/>
            <a:ext cx="8534400" cy="4191000"/>
          </a:xfrm>
        </p:spPr>
        <p:txBody>
          <a:bodyPr>
            <a:normAutofit/>
          </a:bodyPr>
          <a:lstStyle/>
          <a:p>
            <a:pPr marL="788670" indent="-742950">
              <a:buFont typeface="+mj-lt"/>
              <a:buAutoNum type="arabicPeriod" startAt="8"/>
            </a:pPr>
            <a:r>
              <a:rPr lang="en-US" sz="3600" dirty="0" smtClean="0">
                <a:solidFill>
                  <a:srgbClr val="002060"/>
                </a:solidFill>
              </a:rPr>
              <a:t>Energy </a:t>
            </a:r>
            <a:r>
              <a:rPr lang="en-US" sz="3600" dirty="0">
                <a:solidFill>
                  <a:srgbClr val="002060"/>
                </a:solidFill>
              </a:rPr>
              <a:t>research is helping to deliver cleaner, renewable, and less expensive fuels.</a:t>
            </a:r>
          </a:p>
          <a:p>
            <a:pPr marL="788670" indent="-742950">
              <a:buFont typeface="+mj-lt"/>
              <a:buAutoNum type="arabicPeriod" startAt="8"/>
            </a:pPr>
            <a:r>
              <a:rPr lang="en-US" sz="3600" dirty="0" smtClean="0">
                <a:solidFill>
                  <a:srgbClr val="002060"/>
                </a:solidFill>
              </a:rPr>
              <a:t>Information </a:t>
            </a:r>
            <a:r>
              <a:rPr lang="en-US" sz="3600" dirty="0">
                <a:solidFill>
                  <a:srgbClr val="002060"/>
                </a:solidFill>
              </a:rPr>
              <a:t>and telecommunications technologies have enabled instantaneous communications around the globe.</a:t>
            </a:r>
          </a:p>
        </p:txBody>
      </p:sp>
      <p:sp>
        <p:nvSpPr>
          <p:cNvPr id="4" name="Title 1"/>
          <p:cNvSpPr txBox="1">
            <a:spLocks/>
          </p:cNvSpPr>
          <p:nvPr/>
        </p:nvSpPr>
        <p:spPr>
          <a:xfrm>
            <a:off x="324293" y="1339979"/>
            <a:ext cx="8229600" cy="577048"/>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t>New technologies are improving the quality of life.  These are seen in:</a:t>
            </a:r>
            <a:endParaRPr lang="en-US" sz="2400" dirty="0"/>
          </a:p>
        </p:txBody>
      </p:sp>
    </p:spTree>
    <p:extLst>
      <p:ext uri="{BB962C8B-B14F-4D97-AF65-F5344CB8AC3E}">
        <p14:creationId xmlns:p14="http://schemas.microsoft.com/office/powerpoint/2010/main" val="262655649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erspective">
  <a:themeElements>
    <a:clrScheme name="Perspective">
      <a:dk1>
        <a:sysClr val="windowText" lastClr="000000"/>
      </a:dk1>
      <a:lt1>
        <a:sysClr val="window" lastClr="FFFFFF"/>
      </a:lt1>
      <a:dk2>
        <a:srgbClr val="283138"/>
      </a:dk2>
      <a:lt2>
        <a:srgbClr val="FF8600"/>
      </a:lt2>
      <a:accent1>
        <a:srgbClr val="838D9B"/>
      </a:accent1>
      <a:accent2>
        <a:srgbClr val="D2610C"/>
      </a:accent2>
      <a:accent3>
        <a:srgbClr val="80716A"/>
      </a:accent3>
      <a:accent4>
        <a:srgbClr val="94147C"/>
      </a:accent4>
      <a:accent5>
        <a:srgbClr val="5D5AD2"/>
      </a:accent5>
      <a:accent6>
        <a:srgbClr val="6F6C7D"/>
      </a:accent6>
      <a:hlink>
        <a:srgbClr val="6187E3"/>
      </a:hlink>
      <a:folHlink>
        <a:srgbClr val="7B8EB8"/>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erspective">
      <a:fillStyleLst>
        <a:solidFill>
          <a:schemeClr val="phClr"/>
        </a:solidFill>
        <a:gradFill rotWithShape="1">
          <a:gsLst>
            <a:gs pos="0">
              <a:schemeClr val="phClr">
                <a:tint val="50000"/>
                <a:alpha val="100000"/>
                <a:satMod val="160000"/>
                <a:lumMod val="105000"/>
              </a:schemeClr>
            </a:gs>
            <a:gs pos="41000">
              <a:schemeClr val="phClr">
                <a:tint val="57000"/>
                <a:satMod val="180000"/>
                <a:lumMod val="99000"/>
              </a:schemeClr>
            </a:gs>
            <a:gs pos="100000">
              <a:schemeClr val="phClr">
                <a:tint val="80000"/>
                <a:satMod val="200000"/>
                <a:lumMod val="104000"/>
              </a:schemeClr>
            </a:gs>
          </a:gsLst>
          <a:lin ang="5400000" scaled="1"/>
        </a:gradFill>
        <a:gradFill rotWithShape="1">
          <a:gsLst>
            <a:gs pos="0">
              <a:schemeClr val="phClr">
                <a:tint val="96000"/>
                <a:satMod val="130000"/>
                <a:lumMod val="114000"/>
              </a:schemeClr>
            </a:gs>
            <a:gs pos="60000">
              <a:schemeClr val="phClr">
                <a:tint val="100000"/>
                <a:satMod val="106000"/>
                <a:lumMod val="110000"/>
              </a:schemeClr>
            </a:gs>
            <a:gs pos="100000">
              <a:schemeClr val="ph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50800" dist="38100" dir="5400000" rotWithShape="0">
              <a:srgbClr val="000000">
                <a:alpha val="28000"/>
              </a:srgbClr>
            </a:outerShdw>
          </a:effectLst>
        </a:effectStyle>
        <a:effectStyle>
          <a:effectLst>
            <a:outerShdw blurRad="47625" dist="38100" dir="5400000" sy="98000" rotWithShape="0">
              <a:srgbClr val="000000">
                <a:alpha val="48000"/>
              </a:srgbClr>
            </a:outerShdw>
          </a:effectLst>
          <a:scene3d>
            <a:camera prst="orthographicFront">
              <a:rot lat="0" lon="0" rev="0"/>
            </a:camera>
            <a:lightRig rig="twoPt" dir="br">
              <a:rot lat="0" lon="0" rev="8700000"/>
            </a:lightRig>
          </a:scene3d>
          <a:sp3d prstMaterial="matte">
            <a:bevelT w="25400" h="53975"/>
          </a:sp3d>
        </a:effectStyle>
        <a:effectStyle>
          <a:effectLst>
            <a:reflection blurRad="12700" stA="24000" endPos="28000" dist="50800" dir="5400000" sy="-100000" rotWithShape="0"/>
          </a:effectLst>
          <a:scene3d>
            <a:camera prst="orthographicFront">
              <a:rot lat="0" lon="0" rev="0"/>
            </a:camera>
            <a:lightRig rig="threePt" dir="t">
              <a:rot lat="0" lon="0" rev="4800000"/>
            </a:lightRig>
          </a:scene3d>
          <a:sp3d>
            <a:bevelT w="69850" h="31750"/>
          </a:sp3d>
        </a:effectStyle>
      </a:effectStyleLst>
      <a:bgFillStyleLst>
        <a:solidFill>
          <a:schemeClr val="phClr"/>
        </a:solidFill>
        <a:gradFill rotWithShape="1">
          <a:gsLst>
            <a:gs pos="0">
              <a:schemeClr val="phClr">
                <a:tint val="100000"/>
                <a:shade val="80000"/>
                <a:satMod val="100000"/>
                <a:lumMod val="100000"/>
              </a:schemeClr>
            </a:gs>
            <a:gs pos="65000">
              <a:schemeClr val="phClr">
                <a:tint val="100000"/>
                <a:shade val="95000"/>
                <a:satMod val="100000"/>
                <a:lumMod val="100000"/>
              </a:schemeClr>
            </a:gs>
            <a:gs pos="100000">
              <a:schemeClr val="phClr">
                <a:tint val="88000"/>
                <a:shade val="100000"/>
                <a:satMod val="400000"/>
                <a:lumMod val="100000"/>
              </a:schemeClr>
            </a:gs>
          </a:gsLst>
          <a:lin ang="5400000" scaled="0"/>
        </a:gradFill>
        <a:blipFill rotWithShape="1">
          <a:blip xmlns:r="http://schemas.openxmlformats.org/officeDocument/2006/relationships" r:embed="rId1">
            <a:duotone>
              <a:schemeClr val="phClr">
                <a:tint val="95000"/>
                <a:satMod val="90000"/>
              </a:schemeClr>
              <a:schemeClr val="phClr">
                <a:shade val="92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Perspective</Template>
  <TotalTime>137</TotalTime>
  <Words>1185</Words>
  <Application>Microsoft Office PowerPoint</Application>
  <PresentationFormat>On-screen Show (4:3)</PresentationFormat>
  <Paragraphs>110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Perspective</vt:lpstr>
      <vt:lpstr>Science, Technology and Society</vt:lpstr>
      <vt:lpstr>SCIENCE, TECHNOLOGY AND SOCIETY</vt:lpstr>
      <vt:lpstr>DEFINITIONS OF SCIENCE</vt:lpstr>
      <vt:lpstr>DEFINITIONS OF SCIENCE</vt:lpstr>
      <vt:lpstr>DEFINITIONS OF TECHNOLOGY</vt:lpstr>
      <vt:lpstr>DEFINITIONS OF TECHNOLOGY</vt:lpstr>
      <vt:lpstr>DEFINITIONS OF TECHNOLOGY</vt:lpstr>
      <vt:lpstr>DEFINITIONS OF SCIENCE AND TECHNOLOGY</vt:lpstr>
      <vt:lpstr>DEFINITIONS OF SCIENCE AND TECHNOLOGY</vt:lpstr>
      <vt:lpstr>PURPOSE OF SCIENCE AND TECHNOLOGY</vt:lpstr>
      <vt:lpstr>PURPOSE OF SCIENCE AND TECHNOLOGY</vt:lpstr>
      <vt:lpstr>LIMITATIONS OF SCIENCE AND TECHNOLOGY</vt:lpstr>
      <vt:lpstr>LIMITATIONS OF SCIENCE AND TECHNOLOGY</vt:lpstr>
      <vt:lpstr>LIMITATIONS OF SCIENCE AND TECHNOLOGY</vt:lpstr>
      <vt:lpstr>TECHNOLOGY</vt:lpstr>
      <vt:lpstr>TECHNOLOGY</vt:lpstr>
      <vt:lpstr>TECHNOLOGY</vt:lpstr>
      <vt:lpstr>TECHNOLOGY</vt:lpstr>
      <vt:lpstr>TECHNOLOGY</vt:lpstr>
      <vt:lpstr>TECHNOLOGY and the Quality of LIFE</vt:lpstr>
      <vt:lpstr>TECHNOLOGY and the Quality of LIFE</vt:lpstr>
      <vt:lpstr>TECHNOLOGY and the Quality of LIFE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Science, Technology and Society</dc:title>
  <dc:creator>elizabeth</dc:creator>
  <cp:lastModifiedBy>elizabeth</cp:lastModifiedBy>
  <cp:revision>10</cp:revision>
  <dcterms:created xsi:type="dcterms:W3CDTF">2018-01-18T11:38:38Z</dcterms:created>
  <dcterms:modified xsi:type="dcterms:W3CDTF">2018-01-19T01:19:59Z</dcterms:modified>
</cp:coreProperties>
</file>